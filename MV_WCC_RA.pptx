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3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9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77"/>
    <p:restoredTop sz="76112"/>
  </p:normalViewPr>
  <p:slideViewPr>
    <p:cSldViewPr snapToGrid="0">
      <p:cViewPr varScale="1">
        <p:scale>
          <a:sx n="65" d="100"/>
          <a:sy n="65" d="100"/>
        </p:scale>
        <p:origin x="1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and data analysis to contribute to advancements that make people’s lives easier.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/>
            <a:t>I have four years of experience working in Biotech, including my time as a Graduate Research Assistant at Oakland University and as part of the project management team at Novogene.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Management| NGS Research Project Coordinator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Oakland Community College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Certificate of Information Science</a:t>
          </a:r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BA0325C2-D17C-1645-A7FC-F7D231F79746}">
      <dgm:prSet phldrT="[Text]"/>
      <dgm:spPr/>
      <dgm:t>
        <a:bodyPr/>
        <a:lstStyle/>
        <a:p>
          <a:r>
            <a:rPr lang="en-US" dirty="0"/>
            <a:t>Data Science</a:t>
          </a:r>
        </a:p>
      </dgm:t>
    </dgm:pt>
    <dgm:pt modelId="{0B64B9CC-4061-A54B-A048-362BF69B7270}" type="parTrans" cxnId="{B91A50DC-B3B9-094B-9255-411BD8A9C2F0}">
      <dgm:prSet/>
      <dgm:spPr/>
    </dgm:pt>
    <dgm:pt modelId="{5A1A3D4E-52AD-6E49-BD84-340577EE7A30}" type="sibTrans" cxnId="{B91A50DC-B3B9-094B-9255-411BD8A9C2F0}">
      <dgm:prSet/>
      <dgm:spPr/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3" custLinFactNeighborX="51645" custLinFactNeighborY="-5671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3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3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9E82BF69-ECE0-FA47-9970-56B6C72C150F}" type="presOf" srcId="{BA0325C2-D17C-1645-A7FC-F7D231F79746}" destId="{293EC2AA-B19A-0543-B551-3B90447B251A}" srcOrd="0" destOrd="0" presId="urn:microsoft.com/office/officeart/2005/8/layout/vList2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2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B91A50DC-B3B9-094B-9255-411BD8A9C2F0}" srcId="{ECDD3565-69D9-124F-AA62-16DD2BCD4597}" destId="{BA0325C2-D17C-1645-A7FC-F7D231F79746}" srcOrd="0" destOrd="0" parTransId="{0B64B9CC-4061-A54B-A048-362BF69B7270}" sibTransId="{5A1A3D4E-52AD-6E49-BD84-340577EE7A30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  <dgm:cxn modelId="{10DF4349-0D99-C844-B59C-219E6E7FEFD9}" type="presParOf" srcId="{70E192A5-DB24-F645-8EC9-394017E5AE68}" destId="{4C695A41-D314-CD43-9C52-F67E38984D60}" srcOrd="4" destOrd="0" presId="urn:microsoft.com/office/officeart/2005/8/layout/vList2"/>
    <dgm:cxn modelId="{6FA04254-2E0D-234A-A6B2-F21528500DFF}" type="presParOf" srcId="{70E192A5-DB24-F645-8EC9-394017E5AE68}" destId="{E6BFB32E-099A-8F4F-B6FC-F3383D40F5E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1C7CE54E-49B8-46D1-92C2-0E559BEBA3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Support risk analysis and risk mitigation planning for projects</a:t>
          </a:r>
          <a:endParaRPr lang="en-US" sz="1400" dirty="0"/>
        </a:p>
      </dgm:t>
    </dgm:pt>
    <dgm:pt modelId="{53129D4C-A05D-423F-9C33-8B3524B03414}" type="parTrans" cxnId="{AADF2EFE-3B78-4CDD-BD2C-CA5E0DFE6D64}">
      <dgm:prSet/>
      <dgm:spPr/>
      <dgm:t>
        <a:bodyPr/>
        <a:lstStyle/>
        <a:p>
          <a:endParaRPr lang="en-US" sz="1400"/>
        </a:p>
      </dgm:t>
    </dgm:pt>
    <dgm:pt modelId="{016D96DF-0A04-4737-847D-F57F2B171618}" type="sibTrans" cxnId="{AADF2EFE-3B78-4CDD-BD2C-CA5E0DFE6D6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/>
            <a:t>Builds productive working relationships with departments that are key partners (e.g., R&amp;D)</a:t>
          </a:r>
          <a:endParaRPr lang="en-US" sz="140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6"/>
      <dgm:spPr/>
    </dgm:pt>
    <dgm:pt modelId="{134294FA-5FAE-4D86-B216-5C57B7469F46}" type="pres">
      <dgm:prSet presAssocID="{34AD937F-9C72-422E-A91A-BBC62E91EB8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6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6"/>
      <dgm:spPr/>
    </dgm:pt>
    <dgm:pt modelId="{AF703B6F-B0CA-408F-B11C-8A2DF759E20B}" type="pres">
      <dgm:prSet presAssocID="{DD590F2F-1FB2-4E53-A8E9-6552F882BD4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6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6"/>
      <dgm:spPr/>
    </dgm:pt>
    <dgm:pt modelId="{40739708-C7A0-4754-90D4-29DA589989BE}" type="pres">
      <dgm:prSet presAssocID="{3AD1F25D-5CB1-4457-ABFD-E8AA6FA931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6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3EBFDAA8-9699-4F65-BB93-6DBDF4FC15A7}" type="pres">
      <dgm:prSet presAssocID="{1C7CE54E-49B8-46D1-92C2-0E559BEBA3D3}" presName="compNode" presStyleCnt="0"/>
      <dgm:spPr/>
    </dgm:pt>
    <dgm:pt modelId="{5987ACC5-8F1D-439D-BDF9-D9D4AB9119FD}" type="pres">
      <dgm:prSet presAssocID="{1C7CE54E-49B8-46D1-92C2-0E559BEBA3D3}" presName="iconBgRect" presStyleLbl="bgShp" presStyleIdx="3" presStyleCnt="6"/>
      <dgm:spPr/>
    </dgm:pt>
    <dgm:pt modelId="{183EC0D1-E271-43CD-ABD6-A15F09645163}" type="pres">
      <dgm:prSet presAssocID="{1C7CE54E-49B8-46D1-92C2-0E559BEBA3D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2FECDB1-E05C-45DB-B427-D141224ED3CD}" type="pres">
      <dgm:prSet presAssocID="{1C7CE54E-49B8-46D1-92C2-0E559BEBA3D3}" presName="spaceRect" presStyleCnt="0"/>
      <dgm:spPr/>
    </dgm:pt>
    <dgm:pt modelId="{A32EE155-C379-4128-BAC9-0E58AF94984D}" type="pres">
      <dgm:prSet presAssocID="{1C7CE54E-49B8-46D1-92C2-0E559BEBA3D3}" presName="textRect" presStyleLbl="revTx" presStyleIdx="3" presStyleCnt="6">
        <dgm:presLayoutVars>
          <dgm:chMax val="1"/>
          <dgm:chPref val="1"/>
        </dgm:presLayoutVars>
      </dgm:prSet>
      <dgm:spPr/>
    </dgm:pt>
    <dgm:pt modelId="{FAA4C59A-EF3E-49A2-8083-68D23AC96D4C}" type="pres">
      <dgm:prSet presAssocID="{016D96DF-0A04-4737-847D-F57F2B171618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4" presStyleCnt="6"/>
      <dgm:spPr/>
    </dgm:pt>
    <dgm:pt modelId="{F26091B4-F05E-4BA0-9DDF-2053E5636146}" type="pres">
      <dgm:prSet presAssocID="{8118E2A0-F423-468B-829E-F4CFD2B641E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4" presStyleCnt="6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5" presStyleCnt="6"/>
      <dgm:spPr/>
    </dgm:pt>
    <dgm:pt modelId="{25778BBE-1CD1-4726-AD6F-81CC927053F6}" type="pres">
      <dgm:prSet presAssocID="{509D8AE4-BE9A-489D-AADB-951CBFC6C36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E34C60B0-4B04-674B-B03D-B814503D17FC}" type="presOf" srcId="{1C7CE54E-49B8-46D1-92C2-0E559BEBA3D3}" destId="{A32EE155-C379-4128-BAC9-0E58AF94984D}" srcOrd="0" destOrd="0" presId="urn:microsoft.com/office/officeart/2018/2/layout/IconCircleList"/>
    <dgm:cxn modelId="{07FF89CB-6F19-254B-BEDE-FAA2B8D6F7D7}" type="presOf" srcId="{016D96DF-0A04-4737-847D-F57F2B171618}" destId="{FAA4C59A-EF3E-49A2-8083-68D23AC96D4C}" srcOrd="0" destOrd="0" presId="urn:microsoft.com/office/officeart/2018/2/layout/IconCircleList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4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5" destOrd="0" parTransId="{8907B60F-F06D-435E-BE06-F340FF8D9458}" sibTransId="{2BD0DE89-5B2C-4D15-8608-232ECB241DA7}"/>
    <dgm:cxn modelId="{AADF2EFE-3B78-4CDD-BD2C-CA5E0DFE6D64}" srcId="{8648AEF0-4077-4FAB-9DB4-8FB46B739F83}" destId="{1C7CE54E-49B8-46D1-92C2-0E559BEBA3D3}" srcOrd="3" destOrd="0" parTransId="{53129D4C-A05D-423F-9C33-8B3524B03414}" sibTransId="{016D96DF-0A04-4737-847D-F57F2B171618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BEA03B6C-31B7-4546-B7E4-8B1DB6657708}" type="presParOf" srcId="{06E96B60-BAD4-44D6-9E1B-CE7EEE530560}" destId="{3EBFDAA8-9699-4F65-BB93-6DBDF4FC15A7}" srcOrd="6" destOrd="0" presId="urn:microsoft.com/office/officeart/2018/2/layout/IconCircleList"/>
    <dgm:cxn modelId="{0596845D-25A8-9140-B22B-24C40F42B54D}" type="presParOf" srcId="{3EBFDAA8-9699-4F65-BB93-6DBDF4FC15A7}" destId="{5987ACC5-8F1D-439D-BDF9-D9D4AB9119FD}" srcOrd="0" destOrd="0" presId="urn:microsoft.com/office/officeart/2018/2/layout/IconCircleList"/>
    <dgm:cxn modelId="{0DFAB873-43C0-5043-9D81-B206381D7A69}" type="presParOf" srcId="{3EBFDAA8-9699-4F65-BB93-6DBDF4FC15A7}" destId="{183EC0D1-E271-43CD-ABD6-A15F09645163}" srcOrd="1" destOrd="0" presId="urn:microsoft.com/office/officeart/2018/2/layout/IconCircleList"/>
    <dgm:cxn modelId="{27432B9B-37E3-944D-8DE0-BA717C6B24EC}" type="presParOf" srcId="{3EBFDAA8-9699-4F65-BB93-6DBDF4FC15A7}" destId="{02FECDB1-E05C-45DB-B427-D141224ED3CD}" srcOrd="2" destOrd="0" presId="urn:microsoft.com/office/officeart/2018/2/layout/IconCircleList"/>
    <dgm:cxn modelId="{B3B9E42E-75EF-0844-879A-0F5957369DBD}" type="presParOf" srcId="{3EBFDAA8-9699-4F65-BB93-6DBDF4FC15A7}" destId="{A32EE155-C379-4128-BAC9-0E58AF94984D}" srcOrd="3" destOrd="0" presId="urn:microsoft.com/office/officeart/2018/2/layout/IconCircleList"/>
    <dgm:cxn modelId="{769D6BD4-B86A-134E-9B39-F7E18997732A}" type="presParOf" srcId="{06E96B60-BAD4-44D6-9E1B-CE7EEE530560}" destId="{FAA4C59A-EF3E-49A2-8083-68D23AC96D4C}" srcOrd="7" destOrd="0" presId="urn:microsoft.com/office/officeart/2018/2/layout/IconCircleList"/>
    <dgm:cxn modelId="{8871B238-040E-894D-BE87-C2A7F912524C}" type="presParOf" srcId="{06E96B60-BAD4-44D6-9E1B-CE7EEE530560}" destId="{8FC3F4AD-A7F3-4038-B3FF-7C43C791E519}" srcOrd="8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9" destOrd="0" presId="urn:microsoft.com/office/officeart/2018/2/layout/IconCircleList"/>
    <dgm:cxn modelId="{C809B4FD-B02A-CD42-87D6-13AF6011E19A}" type="presParOf" srcId="{06E96B60-BAD4-44D6-9E1B-CE7EEE530560}" destId="{D6328D79-A36B-45C8-93F1-C45627CCF434}" srcOrd="10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400" b="1" i="0" dirty="0"/>
            <a:t>Aim: Analysis of genes associated with FACT complex in Saccharomyces cerevisiae and its comparison with </a:t>
          </a:r>
          <a:r>
            <a:rPr lang="en-US" sz="1400" b="1" i="1" dirty="0"/>
            <a:t>Homo sapiens, Mus musculus, and Musca domestica</a:t>
          </a:r>
          <a:endParaRPr lang="en-US" sz="1400" b="1" dirty="0"/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/>
        </a:p>
      </dgm:t>
    </dgm:pt>
    <dgm:pt modelId="{63E366FC-27B3-4A67-AE91-C2BEDE189DA3}">
      <dgm:prSet/>
      <dgm:spPr/>
      <dgm:t>
        <a:bodyPr/>
        <a:lstStyle/>
        <a:p>
          <a:r>
            <a:rPr lang="en-US" b="1" i="0" dirty="0"/>
            <a:t>Methods:</a:t>
          </a:r>
          <a:r>
            <a:rPr lang="en-US" b="0" i="0" dirty="0"/>
            <a:t> The nucleotide and amino acid sequences for SPT16 and Pob3/SSRP1 of </a:t>
          </a:r>
          <a:r>
            <a:rPr lang="en-US" b="0" i="1" dirty="0"/>
            <a:t>Saccharomyces cerevisiae, Homo sapiens, Mus musculus, and Musca domestica</a:t>
          </a:r>
          <a:r>
            <a:rPr lang="en-US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/>
        </a:p>
      </dgm:t>
    </dgm:pt>
    <dgm:pt modelId="{CDDB92EC-0FEC-4B6D-82F0-31E7A228835C}">
      <dgm:prSet/>
      <dgm:spPr/>
      <dgm:t>
        <a:bodyPr/>
        <a:lstStyle/>
        <a:p>
          <a:r>
            <a:rPr lang="en-US" b="1" i="0" dirty="0"/>
            <a:t>Tools, servers and software used</a:t>
          </a:r>
          <a:r>
            <a:rPr lang="en-US" b="0" i="0" dirty="0"/>
            <a:t>: NCBI, </a:t>
          </a:r>
          <a:r>
            <a:rPr lang="en-US" b="0" i="0" dirty="0" err="1"/>
            <a:t>UniProt</a:t>
          </a:r>
          <a:r>
            <a:rPr lang="en-US" b="0" i="0" dirty="0"/>
            <a:t> KB, CLUSTALW, MAFFT and MUSCLE, </a:t>
          </a:r>
          <a:r>
            <a:rPr lang="en-US" b="0" i="0" dirty="0" err="1"/>
            <a:t>ProtParam</a:t>
          </a:r>
          <a:r>
            <a:rPr lang="en-US" b="0" i="0" dirty="0"/>
            <a:t>, </a:t>
          </a:r>
          <a:r>
            <a:rPr lang="en-US" b="0" i="0" dirty="0" err="1"/>
            <a:t>Expasy</a:t>
          </a:r>
          <a:r>
            <a:rPr lang="en-US" b="0" i="0" dirty="0"/>
            <a:t>,  SOPMA, MEGAX, SQL</a:t>
          </a:r>
          <a:endParaRPr lang="en-US" dirty="0"/>
        </a:p>
      </dgm:t>
    </dgm:pt>
    <dgm:pt modelId="{FCE3979C-D6CE-4415-A1A2-0A682532DDDE}" type="parTrans" cxnId="{07258826-CEEC-459F-B2B4-A14F1BA31FD6}">
      <dgm:prSet/>
      <dgm:spPr/>
      <dgm:t>
        <a:bodyPr/>
        <a:lstStyle/>
        <a:p>
          <a:endParaRPr lang="en-US"/>
        </a:p>
      </dgm:t>
    </dgm:pt>
    <dgm:pt modelId="{92F11DF5-822D-4910-9768-C7432AE9E35A}" type="sibTrans" cxnId="{07258826-CEEC-459F-B2B4-A14F1BA31FD6}">
      <dgm:prSet/>
      <dgm:spPr/>
      <dgm:t>
        <a:bodyPr/>
        <a:lstStyle/>
        <a:p>
          <a:endParaRPr lang="en-US"/>
        </a:p>
      </dgm:t>
    </dgm:pt>
    <dgm:pt modelId="{DD668F2C-3749-4F11-8A99-E32ED668502F}">
      <dgm:prSet/>
      <dgm:spPr/>
      <dgm:t>
        <a:bodyPr/>
        <a:lstStyle/>
        <a:p>
          <a:r>
            <a:rPr lang="en-US" b="0" i="0" dirty="0"/>
            <a:t>Results: Primary and secondary structure comparison of the amino acid sequence shows an overall trend that these proteins have similar properties across the species.</a:t>
          </a:r>
          <a:endParaRPr lang="en-US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/>
        </a:p>
      </dgm:t>
    </dgm:pt>
    <dgm:pt modelId="{A7F57583-894E-40F3-8172-8DB10BB5D796}">
      <dgm:prSet/>
      <dgm:spPr/>
      <dgm:t>
        <a:bodyPr/>
        <a:lstStyle/>
        <a:p>
          <a:r>
            <a:rPr lang="en-US" b="0" i="0" dirty="0"/>
            <a:t>Phylogenetic trees constructed from the aligned sequences suggest that </a:t>
          </a:r>
          <a:r>
            <a:rPr lang="en-US" b="0" i="1" dirty="0"/>
            <a:t>Homo sapiens</a:t>
          </a:r>
          <a:r>
            <a:rPr lang="en-US" b="0" i="0" dirty="0"/>
            <a:t>, </a:t>
          </a:r>
          <a:r>
            <a:rPr lang="en-US" b="0" i="1" dirty="0"/>
            <a:t>Mus musculus </a:t>
          </a:r>
          <a:r>
            <a:rPr lang="en-US" b="0" i="0" dirty="0"/>
            <a:t>and </a:t>
          </a:r>
          <a:r>
            <a:rPr lang="en-US" b="0" i="1" dirty="0"/>
            <a:t>Saccharomyces cerevisiae  </a:t>
          </a:r>
          <a:r>
            <a:rPr lang="en-US" b="0" i="0" dirty="0"/>
            <a:t>are closely related</a:t>
          </a:r>
          <a:endParaRPr lang="en-US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/>
        </a:p>
      </dgm:t>
    </dgm:pt>
    <dgm:pt modelId="{A607F332-B83B-974B-A816-0C50CA174FF1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FEA9BC76-A075-3A46-809E-D0F4D3F35523}" type="pres">
      <dgm:prSet presAssocID="{400ADEB0-246F-48A0-BA69-49F7A8BAD9C8}" presName="thickLine" presStyleLbl="alignNode1" presStyleIdx="0" presStyleCnt="5"/>
      <dgm:spPr/>
    </dgm:pt>
    <dgm:pt modelId="{5DE9D0FB-1B02-344F-A55F-01A621D5ED23}" type="pres">
      <dgm:prSet presAssocID="{400ADEB0-246F-48A0-BA69-49F7A8BAD9C8}" presName="horz1" presStyleCnt="0"/>
      <dgm:spPr/>
    </dgm:pt>
    <dgm:pt modelId="{65A9FC9E-F615-C34A-A537-7C4D55A681EB}" type="pres">
      <dgm:prSet presAssocID="{400ADEB0-246F-48A0-BA69-49F7A8BAD9C8}" presName="tx1" presStyleLbl="revTx" presStyleIdx="0" presStyleCnt="5"/>
      <dgm:spPr/>
    </dgm:pt>
    <dgm:pt modelId="{86D8F945-BE78-5B42-A89F-F1FE06AED896}" type="pres">
      <dgm:prSet presAssocID="{400ADEB0-246F-48A0-BA69-49F7A8BAD9C8}" presName="vert1" presStyleCnt="0"/>
      <dgm:spPr/>
    </dgm:pt>
    <dgm:pt modelId="{49FB5DA0-D197-8140-8F3F-84A6E6298EBA}" type="pres">
      <dgm:prSet presAssocID="{63E366FC-27B3-4A67-AE91-C2BEDE189DA3}" presName="thickLine" presStyleLbl="alignNode1" presStyleIdx="1" presStyleCnt="5"/>
      <dgm:spPr/>
    </dgm:pt>
    <dgm:pt modelId="{408548AB-6E4E-5A43-B8BE-0805621CF618}" type="pres">
      <dgm:prSet presAssocID="{63E366FC-27B3-4A67-AE91-C2BEDE189DA3}" presName="horz1" presStyleCnt="0"/>
      <dgm:spPr/>
    </dgm:pt>
    <dgm:pt modelId="{06D38827-A0D1-C14E-A8A6-C90683FFBB97}" type="pres">
      <dgm:prSet presAssocID="{63E366FC-27B3-4A67-AE91-C2BEDE189DA3}" presName="tx1" presStyleLbl="revTx" presStyleIdx="1" presStyleCnt="5" custScaleY="100460"/>
      <dgm:spPr/>
    </dgm:pt>
    <dgm:pt modelId="{344B8197-36D3-C947-9A81-E998EBA9D6BC}" type="pres">
      <dgm:prSet presAssocID="{63E366FC-27B3-4A67-AE91-C2BEDE189DA3}" presName="vert1" presStyleCnt="0"/>
      <dgm:spPr/>
    </dgm:pt>
    <dgm:pt modelId="{1642DBCB-C033-364A-9F3A-CBA942020AC8}" type="pres">
      <dgm:prSet presAssocID="{CDDB92EC-0FEC-4B6D-82F0-31E7A228835C}" presName="thickLine" presStyleLbl="alignNode1" presStyleIdx="2" presStyleCnt="5"/>
      <dgm:spPr/>
    </dgm:pt>
    <dgm:pt modelId="{1B111902-0436-F641-9F9C-61C44F3FD0EE}" type="pres">
      <dgm:prSet presAssocID="{CDDB92EC-0FEC-4B6D-82F0-31E7A228835C}" presName="horz1" presStyleCnt="0"/>
      <dgm:spPr/>
    </dgm:pt>
    <dgm:pt modelId="{8CA5AADB-E914-E046-8216-A5F2655C1AD7}" type="pres">
      <dgm:prSet presAssocID="{CDDB92EC-0FEC-4B6D-82F0-31E7A228835C}" presName="tx1" presStyleLbl="revTx" presStyleIdx="2" presStyleCnt="5" custScaleY="61791" custLinFactNeighborX="-198" custLinFactNeighborY="996"/>
      <dgm:spPr/>
    </dgm:pt>
    <dgm:pt modelId="{FF509FB2-7D5B-0445-A3A4-39CA4100B543}" type="pres">
      <dgm:prSet presAssocID="{CDDB92EC-0FEC-4B6D-82F0-31E7A228835C}" presName="vert1" presStyleCnt="0"/>
      <dgm:spPr/>
    </dgm:pt>
    <dgm:pt modelId="{9E247BFF-E5DA-144D-A021-D4508B6F7DF3}" type="pres">
      <dgm:prSet presAssocID="{DD668F2C-3749-4F11-8A99-E32ED668502F}" presName="thickLine" presStyleLbl="alignNode1" presStyleIdx="3" presStyleCnt="5"/>
      <dgm:spPr/>
    </dgm:pt>
    <dgm:pt modelId="{27163DA0-30A6-034A-9852-261B81BF6146}" type="pres">
      <dgm:prSet presAssocID="{DD668F2C-3749-4F11-8A99-E32ED668502F}" presName="horz1" presStyleCnt="0"/>
      <dgm:spPr/>
    </dgm:pt>
    <dgm:pt modelId="{EA1B607B-13E7-BE48-B710-F0C25A313C38}" type="pres">
      <dgm:prSet presAssocID="{DD668F2C-3749-4F11-8A99-E32ED668502F}" presName="tx1" presStyleLbl="revTx" presStyleIdx="3" presStyleCnt="5" custScaleY="46282"/>
      <dgm:spPr/>
    </dgm:pt>
    <dgm:pt modelId="{1A385799-258D-B04E-8D5A-64BAEB52F729}" type="pres">
      <dgm:prSet presAssocID="{DD668F2C-3749-4F11-8A99-E32ED668502F}" presName="vert1" presStyleCnt="0"/>
      <dgm:spPr/>
    </dgm:pt>
    <dgm:pt modelId="{5205BD9E-250B-204B-B741-6742379F2B13}" type="pres">
      <dgm:prSet presAssocID="{A7F57583-894E-40F3-8172-8DB10BB5D796}" presName="thickLine" presStyleLbl="alignNode1" presStyleIdx="4" presStyleCnt="5"/>
      <dgm:spPr/>
    </dgm:pt>
    <dgm:pt modelId="{26393CBE-733D-B341-B887-C6D5BF9C216A}" type="pres">
      <dgm:prSet presAssocID="{A7F57583-894E-40F3-8172-8DB10BB5D796}" presName="horz1" presStyleCnt="0"/>
      <dgm:spPr/>
    </dgm:pt>
    <dgm:pt modelId="{4CD8EC22-BF5A-6A40-BD47-91D24F5BCDF4}" type="pres">
      <dgm:prSet presAssocID="{A7F57583-894E-40F3-8172-8DB10BB5D796}" presName="tx1" presStyleLbl="revTx" presStyleIdx="4" presStyleCnt="5" custScaleY="51806"/>
      <dgm:spPr/>
    </dgm:pt>
    <dgm:pt modelId="{5AC36A9C-79A4-2143-9606-1F9FA7C96E80}" type="pres">
      <dgm:prSet presAssocID="{A7F57583-894E-40F3-8172-8DB10BB5D796}" presName="vert1" presStyleCnt="0"/>
      <dgm:spPr/>
    </dgm:pt>
  </dgm:ptLst>
  <dgm:cxnLst>
    <dgm:cxn modelId="{444D4702-6D7A-BC4D-89B5-E5516A5C68E0}" type="presOf" srcId="{400ADEB0-246F-48A0-BA69-49F7A8BAD9C8}" destId="{65A9FC9E-F615-C34A-A537-7C4D55A681EB}" srcOrd="0" destOrd="0" presId="urn:microsoft.com/office/officeart/2008/layout/LinedList"/>
    <dgm:cxn modelId="{3D610811-B56B-4823-97A4-B2640F28D081}" srcId="{EFEAC3E3-92C2-4F1C-9629-99A50F1C6AD7}" destId="{A7F57583-894E-40F3-8172-8DB10BB5D796}" srcOrd="4" destOrd="0" parTransId="{DD8A84BA-C520-4720-9AFC-44A8E82CC6D1}" sibTransId="{8AFF7440-1270-4D6A-93A9-484DDF56ADD4}"/>
    <dgm:cxn modelId="{07258826-CEEC-459F-B2B4-A14F1BA31FD6}" srcId="{EFEAC3E3-92C2-4F1C-9629-99A50F1C6AD7}" destId="{CDDB92EC-0FEC-4B6D-82F0-31E7A228835C}" srcOrd="2" destOrd="0" parTransId="{FCE3979C-D6CE-4415-A1A2-0A682532DDDE}" sibTransId="{92F11DF5-822D-4910-9768-C7432AE9E35A}"/>
    <dgm:cxn modelId="{C7235244-C1FB-4197-B797-1F7FC1612480}" srcId="{EFEAC3E3-92C2-4F1C-9629-99A50F1C6AD7}" destId="{DD668F2C-3749-4F11-8A99-E32ED668502F}" srcOrd="3" destOrd="0" parTransId="{93E41B16-6990-45C2-83CB-E169C4145C61}" sibTransId="{1467EB56-A39C-4215-BAC1-B66BDB438F1B}"/>
    <dgm:cxn modelId="{7D34DA5F-EAB1-A94E-BFA8-794EA04DEE96}" type="presOf" srcId="{CDDB92EC-0FEC-4B6D-82F0-31E7A228835C}" destId="{8CA5AADB-E914-E046-8216-A5F2655C1AD7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AE44DDE-2EB4-FA49-9D5E-FC5C0948D89F}" type="presOf" srcId="{63E366FC-27B3-4A67-AE91-C2BEDE189DA3}" destId="{06D38827-A0D1-C14E-A8A6-C90683FFBB97}" srcOrd="0" destOrd="0" presId="urn:microsoft.com/office/officeart/2008/layout/LinedList"/>
    <dgm:cxn modelId="{80151AE4-0606-8B4F-A89E-8B0644199DB4}" type="presOf" srcId="{DD668F2C-3749-4F11-8A99-E32ED668502F}" destId="{EA1B607B-13E7-BE48-B710-F0C25A313C38}" srcOrd="0" destOrd="0" presId="urn:microsoft.com/office/officeart/2008/layout/LinedList"/>
    <dgm:cxn modelId="{89FF8EEB-C154-A642-9F47-AC65BF80CBA8}" type="presOf" srcId="{A7F57583-894E-40F3-8172-8DB10BB5D796}" destId="{4CD8EC22-BF5A-6A40-BD47-91D24F5BCDF4}" srcOrd="0" destOrd="0" presId="urn:microsoft.com/office/officeart/2008/layout/LinedList"/>
    <dgm:cxn modelId="{5BAC0BEE-3137-A343-B688-25634291E95B}" type="presOf" srcId="{EFEAC3E3-92C2-4F1C-9629-99A50F1C6AD7}" destId="{A607F332-B83B-974B-A816-0C50CA174FF1}" srcOrd="0" destOrd="0" presId="urn:microsoft.com/office/officeart/2008/layout/LinedList"/>
    <dgm:cxn modelId="{B0F1BC66-45F0-AE44-935D-DB7BB707F82F}" type="presParOf" srcId="{A607F332-B83B-974B-A816-0C50CA174FF1}" destId="{FEA9BC76-A075-3A46-809E-D0F4D3F35523}" srcOrd="0" destOrd="0" presId="urn:microsoft.com/office/officeart/2008/layout/LinedList"/>
    <dgm:cxn modelId="{C608F8E1-643D-D748-8FD5-2B5A4FFD8ECA}" type="presParOf" srcId="{A607F332-B83B-974B-A816-0C50CA174FF1}" destId="{5DE9D0FB-1B02-344F-A55F-01A621D5ED23}" srcOrd="1" destOrd="0" presId="urn:microsoft.com/office/officeart/2008/layout/LinedList"/>
    <dgm:cxn modelId="{83D431C7-AE51-2B47-8D04-5ACDA9981762}" type="presParOf" srcId="{5DE9D0FB-1B02-344F-A55F-01A621D5ED23}" destId="{65A9FC9E-F615-C34A-A537-7C4D55A681EB}" srcOrd="0" destOrd="0" presId="urn:microsoft.com/office/officeart/2008/layout/LinedList"/>
    <dgm:cxn modelId="{4BCBE2C4-B5E1-AC40-A979-048FF2F2005E}" type="presParOf" srcId="{5DE9D0FB-1B02-344F-A55F-01A621D5ED23}" destId="{86D8F945-BE78-5B42-A89F-F1FE06AED896}" srcOrd="1" destOrd="0" presId="urn:microsoft.com/office/officeart/2008/layout/LinedList"/>
    <dgm:cxn modelId="{B66B8781-F65A-014E-ADF3-F8A3CF7815C6}" type="presParOf" srcId="{A607F332-B83B-974B-A816-0C50CA174FF1}" destId="{49FB5DA0-D197-8140-8F3F-84A6E6298EBA}" srcOrd="2" destOrd="0" presId="urn:microsoft.com/office/officeart/2008/layout/LinedList"/>
    <dgm:cxn modelId="{1A6039DB-30ED-B447-B55F-68CDA4307378}" type="presParOf" srcId="{A607F332-B83B-974B-A816-0C50CA174FF1}" destId="{408548AB-6E4E-5A43-B8BE-0805621CF618}" srcOrd="3" destOrd="0" presId="urn:microsoft.com/office/officeart/2008/layout/LinedList"/>
    <dgm:cxn modelId="{FA8649BC-E303-3C4A-B6D6-9ECCDAC6167D}" type="presParOf" srcId="{408548AB-6E4E-5A43-B8BE-0805621CF618}" destId="{06D38827-A0D1-C14E-A8A6-C90683FFBB97}" srcOrd="0" destOrd="0" presId="urn:microsoft.com/office/officeart/2008/layout/LinedList"/>
    <dgm:cxn modelId="{FBCEBC63-603B-8C49-A1DB-927A3C954ED6}" type="presParOf" srcId="{408548AB-6E4E-5A43-B8BE-0805621CF618}" destId="{344B8197-36D3-C947-9A81-E998EBA9D6BC}" srcOrd="1" destOrd="0" presId="urn:microsoft.com/office/officeart/2008/layout/LinedList"/>
    <dgm:cxn modelId="{734EB023-CC86-BF44-92FD-EE3E2A6676FB}" type="presParOf" srcId="{A607F332-B83B-974B-A816-0C50CA174FF1}" destId="{1642DBCB-C033-364A-9F3A-CBA942020AC8}" srcOrd="4" destOrd="0" presId="urn:microsoft.com/office/officeart/2008/layout/LinedList"/>
    <dgm:cxn modelId="{28815D5F-4C87-A243-A52F-2291A1AF8974}" type="presParOf" srcId="{A607F332-B83B-974B-A816-0C50CA174FF1}" destId="{1B111902-0436-F641-9F9C-61C44F3FD0EE}" srcOrd="5" destOrd="0" presId="urn:microsoft.com/office/officeart/2008/layout/LinedList"/>
    <dgm:cxn modelId="{A1E9B5F4-D02C-794C-BA50-80831B04B201}" type="presParOf" srcId="{1B111902-0436-F641-9F9C-61C44F3FD0EE}" destId="{8CA5AADB-E914-E046-8216-A5F2655C1AD7}" srcOrd="0" destOrd="0" presId="urn:microsoft.com/office/officeart/2008/layout/LinedList"/>
    <dgm:cxn modelId="{8F4F1CFB-B8FF-2E41-91AB-FE057C28BFBA}" type="presParOf" srcId="{1B111902-0436-F641-9F9C-61C44F3FD0EE}" destId="{FF509FB2-7D5B-0445-A3A4-39CA4100B543}" srcOrd="1" destOrd="0" presId="urn:microsoft.com/office/officeart/2008/layout/LinedList"/>
    <dgm:cxn modelId="{819FC7EF-506A-0A47-93CD-91F106134596}" type="presParOf" srcId="{A607F332-B83B-974B-A816-0C50CA174FF1}" destId="{9E247BFF-E5DA-144D-A021-D4508B6F7DF3}" srcOrd="6" destOrd="0" presId="urn:microsoft.com/office/officeart/2008/layout/LinedList"/>
    <dgm:cxn modelId="{523BF85C-1DA4-4445-9B09-E6B67C3D1CC7}" type="presParOf" srcId="{A607F332-B83B-974B-A816-0C50CA174FF1}" destId="{27163DA0-30A6-034A-9852-261B81BF6146}" srcOrd="7" destOrd="0" presId="urn:microsoft.com/office/officeart/2008/layout/LinedList"/>
    <dgm:cxn modelId="{94428809-52F1-EA45-9F35-F943B4E2A0E0}" type="presParOf" srcId="{27163DA0-30A6-034A-9852-261B81BF6146}" destId="{EA1B607B-13E7-BE48-B710-F0C25A313C38}" srcOrd="0" destOrd="0" presId="urn:microsoft.com/office/officeart/2008/layout/LinedList"/>
    <dgm:cxn modelId="{6216EB3C-2ED5-344C-A45B-C09A3EC6F84B}" type="presParOf" srcId="{27163DA0-30A6-034A-9852-261B81BF6146}" destId="{1A385799-258D-B04E-8D5A-64BAEB52F729}" srcOrd="1" destOrd="0" presId="urn:microsoft.com/office/officeart/2008/layout/LinedList"/>
    <dgm:cxn modelId="{62D7C30B-EF9B-2240-88F8-64FAADD88786}" type="presParOf" srcId="{A607F332-B83B-974B-A816-0C50CA174FF1}" destId="{5205BD9E-250B-204B-B741-6742379F2B13}" srcOrd="8" destOrd="0" presId="urn:microsoft.com/office/officeart/2008/layout/LinedList"/>
    <dgm:cxn modelId="{DE0459BC-9742-7347-B21B-BA13562D26B8}" type="presParOf" srcId="{A607F332-B83B-974B-A816-0C50CA174FF1}" destId="{26393CBE-733D-B341-B887-C6D5BF9C216A}" srcOrd="9" destOrd="0" presId="urn:microsoft.com/office/officeart/2008/layout/LinedList"/>
    <dgm:cxn modelId="{5D341105-EB79-2D4D-A6AE-9F12FCA21924}" type="presParOf" srcId="{26393CBE-733D-B341-B887-C6D5BF9C216A}" destId="{4CD8EC22-BF5A-6A40-BD47-91D24F5BCDF4}" srcOrd="0" destOrd="0" presId="urn:microsoft.com/office/officeart/2008/layout/LinedList"/>
    <dgm:cxn modelId="{88E7B27D-2149-E845-87F8-F6BF179E340C}" type="presParOf" srcId="{26393CBE-733D-B341-B887-C6D5BF9C216A}" destId="{5AC36A9C-79A4-2143-9606-1F9FA7C96E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about the Analytics and Institutional Research Department and utilizing my technical knowledge and communication skills to support the team.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and data analysis to contribute to advancements that make people’s lives easier.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have four years of experience working in Biotech, including my time as a Graduate Research Assistant at Oakland University and as part of the project management team at Novogene.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684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Management| NGS Research Project Coordinator</a:t>
          </a:r>
        </a:p>
      </dsp:txBody>
      <dsp:txXfrm>
        <a:off x="40780" y="87620"/>
        <a:ext cx="4742852" cy="753819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80" y="1748930"/>
        <a:ext cx="4742852" cy="753819"/>
      </dsp:txXfrm>
    </dsp:sp>
    <dsp:sp modelId="{B4C54A19-3536-1A4E-A1EA-C2771B313FD4}">
      <dsp:nvSpPr>
        <dsp:cNvPr id="0" name=""/>
        <dsp:cNvSpPr/>
      </dsp:nvSpPr>
      <dsp:spPr>
        <a:xfrm>
          <a:off x="0" y="2543529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3529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28310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Certificate of Information Science</a:t>
          </a:r>
        </a:p>
      </dsp:txBody>
      <dsp:txXfrm>
        <a:off x="19904" y="48214"/>
        <a:ext cx="4784604" cy="367937"/>
      </dsp:txXfrm>
    </dsp:sp>
    <dsp:sp modelId="{293EC2AA-B19A-0543-B551-3B90447B251A}">
      <dsp:nvSpPr>
        <dsp:cNvPr id="0" name=""/>
        <dsp:cNvSpPr/>
      </dsp:nvSpPr>
      <dsp:spPr>
        <a:xfrm>
          <a:off x="0" y="4749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Data Science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Community College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Present</a:t>
          </a:r>
        </a:p>
      </dsp:txBody>
      <dsp:txXfrm>
        <a:off x="0" y="474970"/>
        <a:ext cx="4824412" cy="686204"/>
      </dsp:txXfrm>
    </dsp:sp>
    <dsp:sp modelId="{60C79CD8-453A-304E-A4B4-F529FC69D731}">
      <dsp:nvSpPr>
        <dsp:cNvPr id="0" name=""/>
        <dsp:cNvSpPr/>
      </dsp:nvSpPr>
      <dsp:spPr>
        <a:xfrm>
          <a:off x="0" y="116117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Master of Science</a:t>
          </a:r>
        </a:p>
      </dsp:txBody>
      <dsp:txXfrm>
        <a:off x="19904" y="1181079"/>
        <a:ext cx="4784604" cy="367937"/>
      </dsp:txXfrm>
    </dsp:sp>
    <dsp:sp modelId="{B4C54A19-3536-1A4E-A1EA-C2771B313FD4}">
      <dsp:nvSpPr>
        <dsp:cNvPr id="0" name=""/>
        <dsp:cNvSpPr/>
      </dsp:nvSpPr>
      <dsp:spPr>
        <a:xfrm>
          <a:off x="0" y="156892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University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2019-2021</a:t>
          </a:r>
        </a:p>
      </dsp:txBody>
      <dsp:txXfrm>
        <a:off x="0" y="1568920"/>
        <a:ext cx="4824412" cy="686204"/>
      </dsp:txXfrm>
    </dsp:sp>
    <dsp:sp modelId="{4C695A41-D314-CD43-9C52-F67E38984D60}">
      <dsp:nvSpPr>
        <dsp:cNvPr id="0" name=""/>
        <dsp:cNvSpPr/>
      </dsp:nvSpPr>
      <dsp:spPr>
        <a:xfrm>
          <a:off x="0" y="225512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Bachelor of Technology</a:t>
          </a:r>
        </a:p>
      </dsp:txBody>
      <dsp:txXfrm>
        <a:off x="19904" y="2275029"/>
        <a:ext cx="4784604" cy="367937"/>
      </dsp:txXfrm>
    </dsp:sp>
    <dsp:sp modelId="{E6BFB32E-099A-8F4F-B6FC-F3383D40F5EB}">
      <dsp:nvSpPr>
        <dsp:cNvPr id="0" name=""/>
        <dsp:cNvSpPr/>
      </dsp:nvSpPr>
      <dsp:spPr>
        <a:xfrm>
          <a:off x="0" y="26628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Biotechnology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JIIT, Noida, India,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2015-2019</a:t>
          </a:r>
        </a:p>
      </dsp:txBody>
      <dsp:txXfrm>
        <a:off x="0" y="2662870"/>
        <a:ext cx="4824412" cy="6862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5987ACC5-8F1D-439D-BDF9-D9D4AB9119FD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EC0D1-E271-43CD-ABD6-A15F09645163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EE155-C379-4128-BAC9-0E58AF94984D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Support risk analysis and risk mitigation planning for projects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4704298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7179514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7367311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8265415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Builds productive working relationships with departments that are key partners (e.g., R&amp;D)</a:t>
          </a:r>
          <a:endParaRPr lang="en-US" sz="1400" kern="1200"/>
        </a:p>
      </dsp:txBody>
      <dsp:txXfrm>
        <a:off x="8265415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BC76-A075-3A46-809E-D0F4D3F35523}">
      <dsp:nvSpPr>
        <dsp:cNvPr id="0" name=""/>
        <dsp:cNvSpPr/>
      </dsp:nvSpPr>
      <dsp:spPr>
        <a:xfrm>
          <a:off x="0" y="1632"/>
          <a:ext cx="63912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9FC9E-F615-C34A-A537-7C4D55A681EB}">
      <dsp:nvSpPr>
        <dsp:cNvPr id="0" name=""/>
        <dsp:cNvSpPr/>
      </dsp:nvSpPr>
      <dsp:spPr>
        <a:xfrm>
          <a:off x="0" y="1632"/>
          <a:ext cx="6391275" cy="14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Aim: Analysis of genes associated with FACT complex in Saccharomyces cerevisiae and its comparison with </a:t>
          </a:r>
          <a:r>
            <a:rPr lang="en-US" sz="1400" b="1" i="1" kern="1200" dirty="0"/>
            <a:t>Homo sapiens, Mus musculus, and Musca domestica</a:t>
          </a:r>
          <a:endParaRPr lang="en-US" sz="1400" b="1" kern="1200" dirty="0"/>
        </a:p>
      </dsp:txBody>
      <dsp:txXfrm>
        <a:off x="0" y="1632"/>
        <a:ext cx="6391275" cy="1455135"/>
      </dsp:txXfrm>
    </dsp:sp>
    <dsp:sp modelId="{49FB5DA0-D197-8140-8F3F-84A6E6298EBA}">
      <dsp:nvSpPr>
        <dsp:cNvPr id="0" name=""/>
        <dsp:cNvSpPr/>
      </dsp:nvSpPr>
      <dsp:spPr>
        <a:xfrm>
          <a:off x="0" y="1456768"/>
          <a:ext cx="6391275" cy="0"/>
        </a:xfrm>
        <a:prstGeom prst="line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38827-A0D1-C14E-A8A6-C90683FFBB97}">
      <dsp:nvSpPr>
        <dsp:cNvPr id="0" name=""/>
        <dsp:cNvSpPr/>
      </dsp:nvSpPr>
      <dsp:spPr>
        <a:xfrm>
          <a:off x="0" y="1456768"/>
          <a:ext cx="6378798" cy="1461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Methods:</a:t>
          </a:r>
          <a:r>
            <a:rPr lang="en-US" sz="1300" b="0" i="0" kern="1200" dirty="0"/>
            <a:t> The nucleotide and amino acid sequences for SPT16 and Pob3/SSRP1 of </a:t>
          </a:r>
          <a:r>
            <a:rPr lang="en-US" sz="1300" b="0" i="1" kern="1200" dirty="0"/>
            <a:t>Saccharomyces cerevisiae, Homo sapiens, Mus musculus, and Musca domestica</a:t>
          </a:r>
          <a:r>
            <a:rPr lang="en-US" sz="13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300" kern="1200" dirty="0"/>
        </a:p>
      </dsp:txBody>
      <dsp:txXfrm>
        <a:off x="0" y="1456768"/>
        <a:ext cx="6378798" cy="1461829"/>
      </dsp:txXfrm>
    </dsp:sp>
    <dsp:sp modelId="{1642DBCB-C033-364A-9F3A-CBA942020AC8}">
      <dsp:nvSpPr>
        <dsp:cNvPr id="0" name=""/>
        <dsp:cNvSpPr/>
      </dsp:nvSpPr>
      <dsp:spPr>
        <a:xfrm>
          <a:off x="0" y="2918597"/>
          <a:ext cx="6391275" cy="0"/>
        </a:xfrm>
        <a:prstGeom prst="line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5AADB-E914-E046-8216-A5F2655C1AD7}">
      <dsp:nvSpPr>
        <dsp:cNvPr id="0" name=""/>
        <dsp:cNvSpPr/>
      </dsp:nvSpPr>
      <dsp:spPr>
        <a:xfrm>
          <a:off x="0" y="2933090"/>
          <a:ext cx="6391275" cy="899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Tools, servers and software used</a:t>
          </a:r>
          <a:r>
            <a:rPr lang="en-US" sz="1300" b="0" i="0" kern="1200" dirty="0"/>
            <a:t>: NCBI, </a:t>
          </a:r>
          <a:r>
            <a:rPr lang="en-US" sz="1300" b="0" i="0" kern="1200" dirty="0" err="1"/>
            <a:t>UniProt</a:t>
          </a:r>
          <a:r>
            <a:rPr lang="en-US" sz="1300" b="0" i="0" kern="1200" dirty="0"/>
            <a:t> KB, CLUSTALW, MAFFT and MUSCLE, </a:t>
          </a:r>
          <a:r>
            <a:rPr lang="en-US" sz="1300" b="0" i="0" kern="1200" dirty="0" err="1"/>
            <a:t>ProtParam</a:t>
          </a:r>
          <a:r>
            <a:rPr lang="en-US" sz="1300" b="0" i="0" kern="1200" dirty="0"/>
            <a:t>, </a:t>
          </a:r>
          <a:r>
            <a:rPr lang="en-US" sz="1300" b="0" i="0" kern="1200" dirty="0" err="1"/>
            <a:t>Expasy</a:t>
          </a:r>
          <a:r>
            <a:rPr lang="en-US" sz="1300" b="0" i="0" kern="1200" dirty="0"/>
            <a:t>,  SOPMA, MEGAX, SQL</a:t>
          </a:r>
          <a:endParaRPr lang="en-US" sz="1300" kern="1200" dirty="0"/>
        </a:p>
      </dsp:txBody>
      <dsp:txXfrm>
        <a:off x="0" y="2933090"/>
        <a:ext cx="6391275" cy="899142"/>
      </dsp:txXfrm>
    </dsp:sp>
    <dsp:sp modelId="{9E247BFF-E5DA-144D-A021-D4508B6F7DF3}">
      <dsp:nvSpPr>
        <dsp:cNvPr id="0" name=""/>
        <dsp:cNvSpPr/>
      </dsp:nvSpPr>
      <dsp:spPr>
        <a:xfrm>
          <a:off x="0" y="3817740"/>
          <a:ext cx="6391275" cy="0"/>
        </a:xfrm>
        <a:prstGeom prst="line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607B-13E7-BE48-B710-F0C25A313C38}">
      <dsp:nvSpPr>
        <dsp:cNvPr id="0" name=""/>
        <dsp:cNvSpPr/>
      </dsp:nvSpPr>
      <dsp:spPr>
        <a:xfrm>
          <a:off x="0" y="3817740"/>
          <a:ext cx="6391275" cy="6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300" kern="1200" dirty="0"/>
        </a:p>
      </dsp:txBody>
      <dsp:txXfrm>
        <a:off x="0" y="3817740"/>
        <a:ext cx="6391275" cy="673465"/>
      </dsp:txXfrm>
    </dsp:sp>
    <dsp:sp modelId="{5205BD9E-250B-204B-B741-6742379F2B13}">
      <dsp:nvSpPr>
        <dsp:cNvPr id="0" name=""/>
        <dsp:cNvSpPr/>
      </dsp:nvSpPr>
      <dsp:spPr>
        <a:xfrm>
          <a:off x="0" y="4491206"/>
          <a:ext cx="6391275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8EC22-BF5A-6A40-BD47-91D24F5BCDF4}">
      <dsp:nvSpPr>
        <dsp:cNvPr id="0" name=""/>
        <dsp:cNvSpPr/>
      </dsp:nvSpPr>
      <dsp:spPr>
        <a:xfrm>
          <a:off x="0" y="4491206"/>
          <a:ext cx="6391275" cy="75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Phylogenetic trees constructed from the aligned sequences suggest that </a:t>
          </a:r>
          <a:r>
            <a:rPr lang="en-US" sz="1300" b="0" i="1" kern="1200" dirty="0"/>
            <a:t>Homo sapiens</a:t>
          </a:r>
          <a:r>
            <a:rPr lang="en-US" sz="1300" b="0" i="0" kern="1200" dirty="0"/>
            <a:t>, </a:t>
          </a:r>
          <a:r>
            <a:rPr lang="en-US" sz="1300" b="0" i="1" kern="1200" dirty="0"/>
            <a:t>Mus musculus </a:t>
          </a:r>
          <a:r>
            <a:rPr lang="en-US" sz="1300" b="0" i="0" kern="1200" dirty="0"/>
            <a:t>and </a:t>
          </a:r>
          <a:r>
            <a:rPr lang="en-US" sz="1300" b="0" i="1" kern="1200" dirty="0"/>
            <a:t>Saccharomyces cerevisiae  </a:t>
          </a:r>
          <a:r>
            <a:rPr lang="en-US" sz="1300" b="0" i="0" kern="1200" dirty="0"/>
            <a:t>are closely related</a:t>
          </a:r>
          <a:endParaRPr lang="en-US" sz="1300" kern="1200" dirty="0"/>
        </a:p>
      </dsp:txBody>
      <dsp:txXfrm>
        <a:off x="0" y="4491206"/>
        <a:ext cx="6391275" cy="753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I’m passionate about learning more about the Analytics and Institutional Research Department and utilizing my technical knowledge and communication skills to support the team.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7/16/24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Part time – will it become full time ever? </a:t>
            </a:r>
          </a:p>
          <a:p>
            <a:r>
              <a:rPr lang="en-US" dirty="0"/>
              <a:t>Is it grant funded/ temporary or permanent?</a:t>
            </a:r>
          </a:p>
          <a:p>
            <a:endParaRPr lang="en-US" dirty="0"/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r>
              <a:rPr lang="en-US" dirty="0"/>
              <a:t>Dave: </a:t>
            </a:r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</a:t>
            </a:r>
            <a:r>
              <a:rPr lang="en-US" dirty="0" err="1"/>
              <a:t>Ican</a:t>
            </a:r>
            <a:r>
              <a:rPr lang="en-US" dirty="0"/>
              <a:t>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8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0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5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0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7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9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6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7/16/24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9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>
                <a:solidFill>
                  <a:schemeClr val="tx1"/>
                </a:solidFill>
              </a:rPr>
              <a:t>Research Analyst–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>
                <a:solidFill>
                  <a:schemeClr val="tx1"/>
                </a:solidFill>
              </a:rPr>
              <a:t>WCC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427" y="3811291"/>
            <a:ext cx="3239145" cy="146424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07/16/2024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708428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6362650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705692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426799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8917518"/>
              </p:ext>
            </p:extLst>
          </p:nvPr>
        </p:nvGraphicFramePr>
        <p:xfrm>
          <a:off x="4965014" y="1176074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3FD79-5408-A2C7-9CE9-6F50248E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55" y="1241266"/>
            <a:ext cx="316101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Area of interest -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4DC2895-AB7E-63B4-84B0-3F1E624077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95" t="33177" r="57893" b="10661"/>
          <a:stretch/>
        </p:blipFill>
        <p:spPr>
          <a:xfrm>
            <a:off x="1232294" y="1114621"/>
            <a:ext cx="6198117" cy="462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5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406082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{3CF2BAB3-D208-E642-914F-57E3D20ACC24}tf10001076</Template>
  <TotalTime>32361</TotalTime>
  <Words>1009</Words>
  <Application>Microsoft Macintosh PowerPoint</Application>
  <PresentationFormat>Widescreen</PresentationFormat>
  <Paragraphs>100</Paragraphs>
  <Slides>11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Research Analyst–   WCC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Area of interest - 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11</cp:revision>
  <cp:lastPrinted>2024-01-15T15:29:56Z</cp:lastPrinted>
  <dcterms:created xsi:type="dcterms:W3CDTF">2024-01-14T23:14:09Z</dcterms:created>
  <dcterms:modified xsi:type="dcterms:W3CDTF">2024-07-16T17:43:33Z</dcterms:modified>
</cp:coreProperties>
</file>