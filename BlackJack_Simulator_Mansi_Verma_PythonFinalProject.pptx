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57" r:id="rId3"/>
    <p:sldId id="267" r:id="rId4"/>
    <p:sldId id="258" r:id="rId5"/>
    <p:sldId id="259" r:id="rId6"/>
    <p:sldId id="261" r:id="rId7"/>
    <p:sldId id="264" r:id="rId8"/>
    <p:sldId id="262" r:id="rId9"/>
    <p:sldId id="263" r:id="rId10"/>
    <p:sldId id="266" r:id="rId11"/>
    <p:sldId id="260" r:id="rId12"/>
    <p:sldId id="265" r:id="rId13"/>
    <p:sldId id="270" r:id="rId14"/>
    <p:sldId id="272" r:id="rId15"/>
    <p:sldId id="271"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97"/>
    <p:restoredTop sz="79193"/>
  </p:normalViewPr>
  <p:slideViewPr>
    <p:cSldViewPr snapToGrid="0">
      <p:cViewPr>
        <p:scale>
          <a:sx n="80" d="100"/>
          <a:sy n="80" d="100"/>
        </p:scale>
        <p:origin x="1800"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C915A7-703A-8140-ACBB-7F57F439A5AB}" type="datetimeFigureOut">
              <a:rPr lang="en-US" smtClean="0"/>
              <a:t>4/24/24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F27001-0F57-274F-BE1F-9232EA8EB063}" type="slidenum">
              <a:rPr lang="en-US" smtClean="0"/>
              <a:t>‹#›</a:t>
            </a:fld>
            <a:endParaRPr lang="en-US"/>
          </a:p>
        </p:txBody>
      </p:sp>
    </p:spTree>
    <p:extLst>
      <p:ext uri="{BB962C8B-B14F-4D97-AF65-F5344CB8AC3E}">
        <p14:creationId xmlns:p14="http://schemas.microsoft.com/office/powerpoint/2010/main" val="169994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D0D0D"/>
                </a:solidFill>
                <a:effectLst/>
                <a:latin typeface="Söhne"/>
              </a:rPr>
              <a:t>While face cards traditionally have specific names and values (e.g., King = 10, Queen = 10, Jack = 10) in standard playing card games, the simulation simplifies the representation by assigning them numerical values randomly between 1 and 10. This approach allows for a straightforward implementation of the simulation without the need for additional logic to handle face cards separately.</a:t>
            </a:r>
          </a:p>
          <a:p>
            <a:endParaRPr lang="en-US" b="0" i="0" u="none" strike="noStrike" dirty="0">
              <a:solidFill>
                <a:srgbClr val="0D0D0D"/>
              </a:solidFill>
              <a:effectLst/>
              <a:latin typeface="Söhne"/>
            </a:endParaRPr>
          </a:p>
          <a:p>
            <a:pPr algn="l"/>
            <a:r>
              <a:rPr lang="en-US" b="0" i="0" u="none" strike="noStrike" dirty="0">
                <a:solidFill>
                  <a:srgbClr val="0D0D0D"/>
                </a:solidFill>
                <a:effectLst/>
                <a:latin typeface="Söhne"/>
              </a:rPr>
              <a:t>In the context of a blackjack simulation, "hit winner" and "stand winner" refer to different strategies used by the player to play the game.</a:t>
            </a:r>
          </a:p>
          <a:p>
            <a:pPr algn="l">
              <a:buFont typeface="+mj-lt"/>
              <a:buAutoNum type="arabicPeriod"/>
            </a:pPr>
            <a:r>
              <a:rPr lang="en-US" b="1" i="0" u="none" strike="noStrike" dirty="0">
                <a:solidFill>
                  <a:srgbClr val="0D0D0D"/>
                </a:solidFill>
                <a:effectLst/>
                <a:latin typeface="Söhne"/>
              </a:rPr>
              <a:t>Hit Winner</a:t>
            </a:r>
            <a:r>
              <a:rPr lang="en-US" b="0" i="0" u="none" strike="noStrike" dirty="0">
                <a:solidFill>
                  <a:srgbClr val="0D0D0D"/>
                </a:solidFill>
                <a:effectLst/>
                <a:latin typeface="Söhne"/>
              </a:rPr>
              <a:t>: A "hit winner" refers to a situation where the player wins the round by choosing to "hit," which means requesting an additional card to be dealt from the deck. In blackjack, the player typically hits if their hand value is below a certain threshold (often 17 or lower) and stands if their hand value is at or above that threshold. If the player's final hand value is higher than the dealer's but does not exceed 21, they win the round. This outcome is categorized as a "hit win" because the player achieved victory by choosing to hit during their turn.</a:t>
            </a:r>
          </a:p>
          <a:p>
            <a:pPr algn="l">
              <a:buFont typeface="+mj-lt"/>
              <a:buAutoNum type="arabicPeriod"/>
            </a:pPr>
            <a:r>
              <a:rPr lang="en-US" b="1" i="0" u="none" strike="noStrike" dirty="0">
                <a:solidFill>
                  <a:srgbClr val="0D0D0D"/>
                </a:solidFill>
                <a:effectLst/>
                <a:latin typeface="Söhne"/>
              </a:rPr>
              <a:t>Stand Winner</a:t>
            </a:r>
            <a:r>
              <a:rPr lang="en-US" b="0" i="0" u="none" strike="noStrike" dirty="0">
                <a:solidFill>
                  <a:srgbClr val="0D0D0D"/>
                </a:solidFill>
                <a:effectLst/>
                <a:latin typeface="Söhne"/>
              </a:rPr>
              <a:t>: Conversely, a "stand winner" refers to a situation where the player wins the round by choosing to "stand," which means declining any additional cards and keeping their current hand value. If the player's final hand value is higher than the dealer's but does not exceed 21, they win the round. This outcome is categorized as a "stand win" because the player achieved victory by choosing to stand during their turn.</a:t>
            </a:r>
          </a:p>
          <a:p>
            <a:pPr algn="l"/>
            <a:r>
              <a:rPr lang="en-US" b="0" i="0" u="none" strike="noStrike" dirty="0">
                <a:solidFill>
                  <a:srgbClr val="0D0D0D"/>
                </a:solidFill>
                <a:effectLst/>
                <a:latin typeface="Söhne"/>
              </a:rPr>
              <a:t>In both cases, the player's objective is to achieve a final hand value that is higher than the dealer's without exceeding 21, which would result in a bust. The terms "hit winner" and "stand winner" simply distinguish between rounds where the player achieved victory by hitting or by standing, respectively.</a:t>
            </a:r>
          </a:p>
          <a:p>
            <a:endParaRPr lang="en-US" dirty="0"/>
          </a:p>
        </p:txBody>
      </p:sp>
      <p:sp>
        <p:nvSpPr>
          <p:cNvPr id="4" name="Slide Number Placeholder 3"/>
          <p:cNvSpPr>
            <a:spLocks noGrp="1"/>
          </p:cNvSpPr>
          <p:nvPr>
            <p:ph type="sldNum" sz="quarter" idx="5"/>
          </p:nvPr>
        </p:nvSpPr>
        <p:spPr/>
        <p:txBody>
          <a:bodyPr/>
          <a:lstStyle/>
          <a:p>
            <a:fld id="{FCF27001-0F57-274F-BE1F-9232EA8EB063}" type="slidenum">
              <a:rPr lang="en-US" smtClean="0"/>
              <a:t>2</a:t>
            </a:fld>
            <a:endParaRPr lang="en-US"/>
          </a:p>
        </p:txBody>
      </p:sp>
    </p:spTree>
    <p:extLst>
      <p:ext uri="{BB962C8B-B14F-4D97-AF65-F5344CB8AC3E}">
        <p14:creationId xmlns:p14="http://schemas.microsoft.com/office/powerpoint/2010/main" val="1319722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D0D0D"/>
                </a:solidFill>
                <a:effectLst/>
                <a:latin typeface="Söhne"/>
              </a:rPr>
              <a:t>This function, </a:t>
            </a:r>
            <a:r>
              <a:rPr lang="en-US" b="0" i="0" u="none" strike="noStrike" dirty="0" err="1">
                <a:solidFill>
                  <a:srgbClr val="0D0D0D"/>
                </a:solidFill>
                <a:effectLst/>
                <a:latin typeface="Söhne"/>
              </a:rPr>
              <a:t>calculate_hand_value</a:t>
            </a:r>
            <a:r>
              <a:rPr lang="en-US" b="0" i="0" u="none" strike="noStrike" dirty="0">
                <a:solidFill>
                  <a:srgbClr val="0D0D0D"/>
                </a:solidFill>
                <a:effectLst/>
                <a:latin typeface="Söhne"/>
              </a:rPr>
              <a:t>, calculates the total value of a hand by summing up the values of all cards in the hand. It then checks if the total value exceeds 21 and if there are any Aces (having a value of 11) in the hand. If both conditions are met, it reduces the total value by 10 for each Ace (since an Ace can be counted as either 11 or 1) until the total value is less than or equal to 21 or there are no more Aces.</a:t>
            </a:r>
          </a:p>
          <a:p>
            <a:pPr algn="l"/>
            <a:r>
              <a:rPr lang="en-US" b="0" i="0" u="none" strike="noStrike" dirty="0">
                <a:solidFill>
                  <a:srgbClr val="0D0D0D"/>
                </a:solidFill>
                <a:effectLst/>
                <a:latin typeface="Söhne"/>
              </a:rPr>
              <a:t>Therefore, in this code, an Ace is counted as 11 unless doing so would cause the player to bust (i.e., exceed a total value of 21). If counting the Ace as 11 would result in busting, it is counted as 1 instead.</a:t>
            </a:r>
          </a:p>
          <a:p>
            <a:pPr algn="l"/>
            <a:r>
              <a:rPr lang="en-US" b="0" i="0" u="none" strike="noStrike" dirty="0">
                <a:solidFill>
                  <a:srgbClr val="0D0D0D"/>
                </a:solidFill>
                <a:effectLst/>
                <a:latin typeface="Söhne"/>
              </a:rPr>
              <a:t>This approach reflects the common rule in blackjack where Aces can be counted as 11 or 1, depending on which value benefits the player more without causing them to bust.</a:t>
            </a:r>
          </a:p>
          <a:p>
            <a:endParaRPr lang="en-US" dirty="0"/>
          </a:p>
        </p:txBody>
      </p:sp>
      <p:sp>
        <p:nvSpPr>
          <p:cNvPr id="4" name="Slide Number Placeholder 3"/>
          <p:cNvSpPr>
            <a:spLocks noGrp="1"/>
          </p:cNvSpPr>
          <p:nvPr>
            <p:ph type="sldNum" sz="quarter" idx="5"/>
          </p:nvPr>
        </p:nvSpPr>
        <p:spPr/>
        <p:txBody>
          <a:bodyPr/>
          <a:lstStyle/>
          <a:p>
            <a:fld id="{FCF27001-0F57-274F-BE1F-9232EA8EB063}" type="slidenum">
              <a:rPr lang="en-US" smtClean="0"/>
              <a:t>5</a:t>
            </a:fld>
            <a:endParaRPr lang="en-US"/>
          </a:p>
        </p:txBody>
      </p:sp>
    </p:spTree>
    <p:extLst>
      <p:ext uri="{BB962C8B-B14F-4D97-AF65-F5344CB8AC3E}">
        <p14:creationId xmlns:p14="http://schemas.microsoft.com/office/powerpoint/2010/main" val="2995909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F27001-0F57-274F-BE1F-9232EA8EB063}" type="slidenum">
              <a:rPr lang="en-US" smtClean="0"/>
              <a:t>13</a:t>
            </a:fld>
            <a:endParaRPr lang="en-US"/>
          </a:p>
        </p:txBody>
      </p:sp>
    </p:spTree>
    <p:extLst>
      <p:ext uri="{BB962C8B-B14F-4D97-AF65-F5344CB8AC3E}">
        <p14:creationId xmlns:p14="http://schemas.microsoft.com/office/powerpoint/2010/main" val="1391992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F27001-0F57-274F-BE1F-9232EA8EB063}" type="slidenum">
              <a:rPr lang="en-US" smtClean="0"/>
              <a:t>14</a:t>
            </a:fld>
            <a:endParaRPr lang="en-US"/>
          </a:p>
        </p:txBody>
      </p:sp>
    </p:spTree>
    <p:extLst>
      <p:ext uri="{BB962C8B-B14F-4D97-AF65-F5344CB8AC3E}">
        <p14:creationId xmlns:p14="http://schemas.microsoft.com/office/powerpoint/2010/main" val="1028744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F27001-0F57-274F-BE1F-9232EA8EB063}" type="slidenum">
              <a:rPr lang="en-US" smtClean="0"/>
              <a:t>15</a:t>
            </a:fld>
            <a:endParaRPr lang="en-US"/>
          </a:p>
        </p:txBody>
      </p:sp>
    </p:spTree>
    <p:extLst>
      <p:ext uri="{BB962C8B-B14F-4D97-AF65-F5344CB8AC3E}">
        <p14:creationId xmlns:p14="http://schemas.microsoft.com/office/powerpoint/2010/main" val="4062327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631FC2-A1FB-D540-9CEC-AA4EDA3FD6C9}"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1021965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631FC2-A1FB-D540-9CEC-AA4EDA3FD6C9}"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2650735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631FC2-A1FB-D540-9CEC-AA4EDA3FD6C9}"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3192222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631FC2-A1FB-D540-9CEC-AA4EDA3FD6C9}"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1739643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631FC2-A1FB-D540-9CEC-AA4EDA3FD6C9}" type="datetimeFigureOut">
              <a:rPr lang="en-US" smtClean="0"/>
              <a:t>4/24/24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3786662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631FC2-A1FB-D540-9CEC-AA4EDA3FD6C9}" type="datetimeFigureOut">
              <a:rPr lang="en-US" smtClean="0"/>
              <a:t>4/24/24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197186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631FC2-A1FB-D540-9CEC-AA4EDA3FD6C9}" type="datetimeFigureOut">
              <a:rPr lang="en-US" smtClean="0"/>
              <a:t>4/24/24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220531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631FC2-A1FB-D540-9CEC-AA4EDA3FD6C9}"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3531824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631FC2-A1FB-D540-9CEC-AA4EDA3FD6C9}"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258356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631FC2-A1FB-D540-9CEC-AA4EDA3FD6C9}"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287537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631FC2-A1FB-D540-9CEC-AA4EDA3FD6C9}"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FF7E77-5821-514D-876C-2B39AF2825C4}" type="slidenum">
              <a:rPr lang="en-US" smtClean="0"/>
              <a:t>‹#›</a:t>
            </a:fld>
            <a:endParaRPr lang="en-US"/>
          </a:p>
        </p:txBody>
      </p:sp>
    </p:spTree>
    <p:extLst>
      <p:ext uri="{BB962C8B-B14F-4D97-AF65-F5344CB8AC3E}">
        <p14:creationId xmlns:p14="http://schemas.microsoft.com/office/powerpoint/2010/main" val="223469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31FC2-A1FB-D540-9CEC-AA4EDA3FD6C9}" type="datetimeFigureOut">
              <a:rPr lang="en-US" smtClean="0"/>
              <a:t>4/24/24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F7E77-5821-514D-876C-2B39AF2825C4}" type="slidenum">
              <a:rPr lang="en-US" smtClean="0"/>
              <a:t>‹#›</a:t>
            </a:fld>
            <a:endParaRPr lang="en-US"/>
          </a:p>
        </p:txBody>
      </p:sp>
    </p:spTree>
    <p:extLst>
      <p:ext uri="{BB962C8B-B14F-4D97-AF65-F5344CB8AC3E}">
        <p14:creationId xmlns:p14="http://schemas.microsoft.com/office/powerpoint/2010/main" val="22544488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F91F20-B96F-4F77-AC3E-2CDD3BAA1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4" y="-1"/>
            <a:ext cx="8111296"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58281" y="-401562"/>
            <a:ext cx="6858004" cy="7661129"/>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9" y="-1"/>
            <a:ext cx="8118331" cy="6858000"/>
          </a:xfrm>
          <a:prstGeom prst="rect">
            <a:avLst/>
          </a:prstGeom>
          <a:gradFill>
            <a:gsLst>
              <a:gs pos="14000">
                <a:schemeClr val="accent1">
                  <a:alpha val="0"/>
                </a:schemeClr>
              </a:gs>
              <a:gs pos="100000">
                <a:srgbClr val="000000">
                  <a:alpha val="82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7B6A113-58CD-406C-BCE4-6E1F1F2B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449520">
            <a:off x="2569700" y="983306"/>
            <a:ext cx="5005754" cy="5005754"/>
          </a:xfrm>
          <a:prstGeom prst="ellipse">
            <a:avLst/>
          </a:prstGeom>
          <a:gradFill>
            <a:gsLst>
              <a:gs pos="17000">
                <a:schemeClr val="accent1">
                  <a:lumMod val="75000"/>
                  <a:alpha val="0"/>
                </a:schemeClr>
              </a:gs>
              <a:gs pos="82000">
                <a:srgbClr val="000000">
                  <a:alpha val="24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90DA0C-B33D-4E21-8F27-99F4E874A0DD}"/>
              </a:ext>
            </a:extLst>
          </p:cNvPr>
          <p:cNvSpPr>
            <a:spLocks noGrp="1"/>
          </p:cNvSpPr>
          <p:nvPr>
            <p:ph type="ctrTitle"/>
          </p:nvPr>
        </p:nvSpPr>
        <p:spPr>
          <a:xfrm>
            <a:off x="1011948" y="857251"/>
            <a:ext cx="6219582" cy="3160113"/>
          </a:xfrm>
        </p:spPr>
        <p:txBody>
          <a:bodyPr anchor="b">
            <a:normAutofit/>
          </a:bodyPr>
          <a:lstStyle/>
          <a:p>
            <a:pPr algn="l"/>
            <a:r>
              <a:rPr lang="en-US" sz="4800" dirty="0">
                <a:solidFill>
                  <a:srgbClr val="FFFFFF"/>
                </a:solidFill>
              </a:rPr>
              <a:t>Final project – </a:t>
            </a:r>
            <a:br>
              <a:rPr lang="en-US" sz="4800" dirty="0">
                <a:solidFill>
                  <a:srgbClr val="FFFFFF"/>
                </a:solidFill>
              </a:rPr>
            </a:br>
            <a:r>
              <a:rPr lang="en-US" sz="4800" dirty="0">
                <a:solidFill>
                  <a:srgbClr val="FFFFFF"/>
                </a:solidFill>
              </a:rPr>
              <a:t>Blackjack Simulator</a:t>
            </a:r>
          </a:p>
        </p:txBody>
      </p:sp>
      <p:sp>
        <p:nvSpPr>
          <p:cNvPr id="20" name="Rectangle 19">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8" y="4354178"/>
            <a:ext cx="8118330" cy="2503817"/>
          </a:xfrm>
          <a:prstGeom prst="rect">
            <a:avLst/>
          </a:prstGeom>
          <a:gradFill>
            <a:gsLst>
              <a:gs pos="0">
                <a:schemeClr val="accent1">
                  <a:lumMod val="75000"/>
                  <a:alpha val="33000"/>
                </a:schemeClr>
              </a:gs>
              <a:gs pos="83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EA403A9-B9E9-2974-CEB3-F6A67BCC91D6}"/>
              </a:ext>
            </a:extLst>
          </p:cNvPr>
          <p:cNvSpPr>
            <a:spLocks noGrp="1"/>
          </p:cNvSpPr>
          <p:nvPr>
            <p:ph type="subTitle" idx="1"/>
          </p:nvPr>
        </p:nvSpPr>
        <p:spPr>
          <a:xfrm>
            <a:off x="1105661" y="4800600"/>
            <a:ext cx="5179879" cy="1200149"/>
          </a:xfrm>
        </p:spPr>
        <p:txBody>
          <a:bodyPr anchor="t">
            <a:normAutofit fontScale="62500" lnSpcReduction="20000"/>
          </a:bodyPr>
          <a:lstStyle/>
          <a:p>
            <a:pPr algn="l"/>
            <a:r>
              <a:rPr lang="en-US" dirty="0">
                <a:solidFill>
                  <a:srgbClr val="FFFFFF"/>
                </a:solidFill>
              </a:rPr>
              <a:t>Python 2131</a:t>
            </a:r>
          </a:p>
          <a:p>
            <a:pPr algn="l"/>
            <a:r>
              <a:rPr lang="en-US" dirty="0">
                <a:solidFill>
                  <a:srgbClr val="FFFFFF"/>
                </a:solidFill>
              </a:rPr>
              <a:t>Section: 01598</a:t>
            </a:r>
          </a:p>
          <a:p>
            <a:pPr algn="l"/>
            <a:r>
              <a:rPr lang="en-US" dirty="0">
                <a:solidFill>
                  <a:srgbClr val="FFFFFF"/>
                </a:solidFill>
              </a:rPr>
              <a:t>Mansi Verma</a:t>
            </a:r>
          </a:p>
          <a:p>
            <a:pPr algn="l"/>
            <a:r>
              <a:rPr lang="en-US" dirty="0">
                <a:solidFill>
                  <a:srgbClr val="FFFFFF"/>
                </a:solidFill>
              </a:rPr>
              <a:t>Professor: </a:t>
            </a:r>
            <a:r>
              <a:rPr lang="en-US" dirty="0" err="1">
                <a:solidFill>
                  <a:srgbClr val="FFFFFF"/>
                </a:solidFill>
              </a:rPr>
              <a:t>Aysar</a:t>
            </a:r>
            <a:r>
              <a:rPr lang="en-US" dirty="0">
                <a:solidFill>
                  <a:srgbClr val="FFFFFF"/>
                </a:solidFill>
              </a:rPr>
              <a:t> </a:t>
            </a:r>
            <a:r>
              <a:rPr lang="en-US" dirty="0" err="1">
                <a:solidFill>
                  <a:srgbClr val="FFFFFF"/>
                </a:solidFill>
              </a:rPr>
              <a:t>Alshakargy</a:t>
            </a:r>
            <a:endParaRPr lang="en-US" dirty="0">
              <a:solidFill>
                <a:srgbClr val="FFFFFF"/>
              </a:solidFill>
            </a:endParaRPr>
          </a:p>
        </p:txBody>
      </p:sp>
      <p:pic>
        <p:nvPicPr>
          <p:cNvPr id="5" name="Graphic 4" descr="Playing card with solid fill">
            <a:extLst>
              <a:ext uri="{FF2B5EF4-FFF2-40B4-BE49-F238E27FC236}">
                <a16:creationId xmlns:a16="http://schemas.microsoft.com/office/drawing/2014/main" id="{A95A7930-0756-42C4-ABCF-5CC3BD7A0B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60981" y="1842090"/>
            <a:ext cx="3173819" cy="3173819"/>
          </a:xfrm>
          <a:prstGeom prst="rect">
            <a:avLst/>
          </a:prstGeom>
        </p:spPr>
      </p:pic>
    </p:spTree>
    <p:extLst>
      <p:ext uri="{BB962C8B-B14F-4D97-AF65-F5344CB8AC3E}">
        <p14:creationId xmlns:p14="http://schemas.microsoft.com/office/powerpoint/2010/main" val="1230886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BFFFE2-C5B1-7C39-E4B5-56E6D1D0151C}"/>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Basic rules of Blackjack</a:t>
            </a:r>
          </a:p>
        </p:txBody>
      </p:sp>
      <p:sp>
        <p:nvSpPr>
          <p:cNvPr id="7" name="Content Placeholder 2">
            <a:extLst>
              <a:ext uri="{FF2B5EF4-FFF2-40B4-BE49-F238E27FC236}">
                <a16:creationId xmlns:a16="http://schemas.microsoft.com/office/drawing/2014/main" id="{FB463575-8226-86F6-E03E-4A932E61A1E7}"/>
              </a:ext>
            </a:extLst>
          </p:cNvPr>
          <p:cNvSpPr>
            <a:spLocks noGrp="1"/>
          </p:cNvSpPr>
          <p:nvPr>
            <p:ph idx="1"/>
          </p:nvPr>
        </p:nvSpPr>
        <p:spPr>
          <a:xfrm>
            <a:off x="4504548" y="336305"/>
            <a:ext cx="6915019" cy="6185389"/>
          </a:xfrm>
        </p:spPr>
        <p:txBody>
          <a:bodyPr anchor="ctr">
            <a:noAutofit/>
          </a:bodyPr>
          <a:lstStyle/>
          <a:p>
            <a:pPr>
              <a:buFont typeface="+mj-lt"/>
              <a:buAutoNum type="arabicPeriod"/>
            </a:pPr>
            <a:r>
              <a:rPr lang="en-US" sz="1200" b="1" i="0" u="none" strike="noStrike" dirty="0">
                <a:effectLst/>
                <a:latin typeface="Times" pitchFamily="2" charset="0"/>
              </a:rPr>
              <a:t>Objective:</a:t>
            </a:r>
            <a:r>
              <a:rPr lang="en-US" sz="1200" b="0" i="0" u="none" strike="noStrike" dirty="0">
                <a:effectLst/>
                <a:latin typeface="Times" pitchFamily="2" charset="0"/>
              </a:rPr>
              <a:t> The objective of blackjack is to beat the dealer's hand without going over 21.</a:t>
            </a:r>
          </a:p>
          <a:p>
            <a:pPr>
              <a:buFont typeface="+mj-lt"/>
              <a:buAutoNum type="arabicPeriod"/>
            </a:pPr>
            <a:r>
              <a:rPr lang="en-US" sz="1200" b="1" i="0" u="none" strike="noStrike" dirty="0">
                <a:effectLst/>
                <a:latin typeface="Times" pitchFamily="2" charset="0"/>
              </a:rPr>
              <a:t>Card Values:</a:t>
            </a:r>
            <a:endParaRPr lang="en-US" sz="1200" b="0" i="0" u="none" strike="noStrike" dirty="0">
              <a:effectLst/>
              <a:latin typeface="Times" pitchFamily="2" charset="0"/>
            </a:endParaRPr>
          </a:p>
          <a:p>
            <a:pPr marL="742950" lvl="1" indent="-285750">
              <a:buFont typeface="+mj-lt"/>
              <a:buAutoNum type="arabicPeriod"/>
            </a:pPr>
            <a:r>
              <a:rPr lang="en-US" sz="1200" b="0" i="0" u="none" strike="noStrike" dirty="0">
                <a:effectLst/>
                <a:latin typeface="Times" pitchFamily="2" charset="0"/>
              </a:rPr>
              <a:t>Number cards (2-10) are worth their face value.</a:t>
            </a:r>
          </a:p>
          <a:p>
            <a:pPr marL="742950" lvl="1" indent="-285750">
              <a:buFont typeface="+mj-lt"/>
              <a:buAutoNum type="arabicPeriod"/>
            </a:pPr>
            <a:r>
              <a:rPr lang="en-US" sz="1200" b="0" i="0" u="none" strike="noStrike" dirty="0">
                <a:effectLst/>
                <a:latin typeface="Times" pitchFamily="2" charset="0"/>
              </a:rPr>
              <a:t>Face cards (Jack, Queen, King) are usually worth 10 points each.</a:t>
            </a:r>
          </a:p>
          <a:p>
            <a:pPr marL="742950" lvl="1" indent="-285750">
              <a:buFont typeface="+mj-lt"/>
              <a:buAutoNum type="arabicPeriod"/>
            </a:pPr>
            <a:r>
              <a:rPr lang="en-US" sz="1200" b="0" i="0" u="none" strike="noStrike" dirty="0">
                <a:effectLst/>
                <a:latin typeface="Times" pitchFamily="2" charset="0"/>
              </a:rPr>
              <a:t>Aces can be worth either 1 or 11 points, depending on which value benefits the player more.</a:t>
            </a:r>
          </a:p>
          <a:p>
            <a:pPr>
              <a:buFont typeface="+mj-lt"/>
              <a:buAutoNum type="arabicPeriod"/>
            </a:pPr>
            <a:r>
              <a:rPr lang="en-US" sz="1200" b="1" i="0" u="none" strike="noStrike" dirty="0">
                <a:effectLst/>
                <a:latin typeface="Times" pitchFamily="2" charset="0"/>
              </a:rPr>
              <a:t>Gameplay:</a:t>
            </a:r>
            <a:endParaRPr lang="en-US" sz="1200" b="0" i="0" u="none" strike="noStrike" dirty="0">
              <a:effectLst/>
              <a:latin typeface="Times" pitchFamily="2" charset="0"/>
            </a:endParaRPr>
          </a:p>
          <a:p>
            <a:pPr marL="742950" lvl="1" indent="-285750">
              <a:buFont typeface="+mj-lt"/>
              <a:buAutoNum type="arabicPeriod"/>
            </a:pPr>
            <a:r>
              <a:rPr lang="en-US" sz="1200" b="0" i="0" u="none" strike="noStrike" dirty="0">
                <a:effectLst/>
                <a:latin typeface="Times" pitchFamily="2" charset="0"/>
              </a:rPr>
              <a:t>The game begins with each player, including the dealer, receiving two cards.</a:t>
            </a:r>
          </a:p>
          <a:p>
            <a:pPr marL="742950" lvl="1" indent="-285750">
              <a:buFont typeface="+mj-lt"/>
              <a:buAutoNum type="arabicPeriod"/>
            </a:pPr>
            <a:r>
              <a:rPr lang="en-US" sz="1200" b="0" i="0" u="none" strike="noStrike" dirty="0">
                <a:effectLst/>
                <a:latin typeface="Times" pitchFamily="2" charset="0"/>
              </a:rPr>
              <a:t>Players can see one of the dealer's cards, while the other remains hidden.</a:t>
            </a:r>
          </a:p>
          <a:p>
            <a:pPr marL="742950" lvl="1" indent="-285750">
              <a:buFont typeface="+mj-lt"/>
              <a:buAutoNum type="arabicPeriod"/>
            </a:pPr>
            <a:r>
              <a:rPr lang="en-US" sz="1200" b="0" i="0" u="none" strike="noStrike" dirty="0">
                <a:effectLst/>
                <a:latin typeface="Times" pitchFamily="2" charset="0"/>
              </a:rPr>
              <a:t>Players take turns deciding whether to "hit" (receive another card) or "stand" (keep their current hand).</a:t>
            </a:r>
          </a:p>
          <a:p>
            <a:pPr marL="742950" lvl="1" indent="-285750">
              <a:buFont typeface="+mj-lt"/>
              <a:buAutoNum type="arabicPeriod"/>
            </a:pPr>
            <a:r>
              <a:rPr lang="en-US" sz="1200" b="0" i="0" u="none" strike="noStrike" dirty="0">
                <a:effectLst/>
                <a:latin typeface="Times" pitchFamily="2" charset="0"/>
              </a:rPr>
              <a:t>If a player's hand exceeds 21 points, they "bust" and lose the round automatically.</a:t>
            </a:r>
          </a:p>
          <a:p>
            <a:pPr marL="742950" lvl="1" indent="-285750">
              <a:buFont typeface="+mj-lt"/>
              <a:buAutoNum type="arabicPeriod"/>
            </a:pPr>
            <a:r>
              <a:rPr lang="en-US" sz="1200" b="0" i="0" u="none" strike="noStrike" dirty="0">
                <a:effectLst/>
                <a:latin typeface="Times" pitchFamily="2" charset="0"/>
              </a:rPr>
              <a:t>The dealer must hit until their hand value reaches 16 or higher.</a:t>
            </a:r>
          </a:p>
          <a:p>
            <a:pPr marL="742950" lvl="1" indent="-285750">
              <a:buFont typeface="+mj-lt"/>
              <a:buAutoNum type="arabicPeriod"/>
            </a:pPr>
            <a:r>
              <a:rPr lang="en-US" sz="1200" b="0" i="0" u="none" strike="noStrike" dirty="0">
                <a:effectLst/>
                <a:latin typeface="Times" pitchFamily="2" charset="0"/>
              </a:rPr>
              <a:t>If the dealer busts, all remaining players win.</a:t>
            </a:r>
          </a:p>
          <a:p>
            <a:pPr marL="742950" lvl="1" indent="-285750">
              <a:buFont typeface="+mj-lt"/>
              <a:buAutoNum type="arabicPeriod"/>
            </a:pPr>
            <a:r>
              <a:rPr lang="en-US" sz="1200" b="0" i="0" u="none" strike="noStrike" dirty="0">
                <a:effectLst/>
                <a:latin typeface="Times" pitchFamily="2" charset="0"/>
              </a:rPr>
              <a:t>If the dealer does not bust, the hands of the remaining players are compared to the dealer's hand.</a:t>
            </a:r>
          </a:p>
          <a:p>
            <a:pPr marL="742950" lvl="1" indent="-285750">
              <a:buFont typeface="+mj-lt"/>
              <a:buAutoNum type="arabicPeriod"/>
            </a:pPr>
            <a:r>
              <a:rPr lang="en-US" sz="1200" b="0" i="0" u="none" strike="noStrike" dirty="0">
                <a:effectLst/>
                <a:latin typeface="Times" pitchFamily="2" charset="0"/>
              </a:rPr>
              <a:t>Players with a hand value higher than the dealer's win, while those with a lower value lose.</a:t>
            </a:r>
          </a:p>
          <a:p>
            <a:pPr marL="742950" lvl="1" indent="-285750">
              <a:buFont typeface="+mj-lt"/>
              <a:buAutoNum type="arabicPeriod"/>
            </a:pPr>
            <a:r>
              <a:rPr lang="en-US" sz="1200" b="0" i="0" u="none" strike="noStrike" dirty="0">
                <a:effectLst/>
                <a:latin typeface="Times" pitchFamily="2" charset="0"/>
              </a:rPr>
              <a:t>A tie between the player and dealer results in a ”draw".</a:t>
            </a:r>
          </a:p>
        </p:txBody>
      </p:sp>
    </p:spTree>
    <p:extLst>
      <p:ext uri="{BB962C8B-B14F-4D97-AF65-F5344CB8AC3E}">
        <p14:creationId xmlns:p14="http://schemas.microsoft.com/office/powerpoint/2010/main" val="3594735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BFFFE2-C5B1-7C39-E4B5-56E6D1D0151C}"/>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Project instructions</a:t>
            </a:r>
          </a:p>
        </p:txBody>
      </p:sp>
      <p:sp>
        <p:nvSpPr>
          <p:cNvPr id="7" name="Content Placeholder 2">
            <a:extLst>
              <a:ext uri="{FF2B5EF4-FFF2-40B4-BE49-F238E27FC236}">
                <a16:creationId xmlns:a16="http://schemas.microsoft.com/office/drawing/2014/main" id="{FB463575-8226-86F6-E03E-4A932E61A1E7}"/>
              </a:ext>
            </a:extLst>
          </p:cNvPr>
          <p:cNvSpPr>
            <a:spLocks noGrp="1"/>
          </p:cNvSpPr>
          <p:nvPr>
            <p:ph idx="1"/>
          </p:nvPr>
        </p:nvSpPr>
        <p:spPr>
          <a:xfrm>
            <a:off x="4504548" y="336305"/>
            <a:ext cx="6915019" cy="6185389"/>
          </a:xfrm>
        </p:spPr>
        <p:txBody>
          <a:bodyPr anchor="ctr">
            <a:noAutofit/>
          </a:bodyPr>
          <a:lstStyle/>
          <a:p>
            <a:pPr algn="l"/>
            <a:r>
              <a:rPr lang="en-US" sz="2000" b="0" i="0" u="none" strike="noStrike" dirty="0">
                <a:solidFill>
                  <a:srgbClr val="202122"/>
                </a:solidFill>
                <a:effectLst/>
                <a:latin typeface="Times" pitchFamily="2" charset="0"/>
              </a:rPr>
              <a:t>Single "player" vs the dealer</a:t>
            </a:r>
          </a:p>
          <a:p>
            <a:pPr algn="l"/>
            <a:r>
              <a:rPr lang="en-US" sz="2000" dirty="0">
                <a:solidFill>
                  <a:srgbClr val="202122"/>
                </a:solidFill>
                <a:latin typeface="Times" pitchFamily="2" charset="0"/>
              </a:rPr>
              <a:t>A</a:t>
            </a:r>
            <a:r>
              <a:rPr lang="en-US" sz="2000" b="0" i="0" u="none" strike="noStrike" dirty="0">
                <a:solidFill>
                  <a:srgbClr val="202122"/>
                </a:solidFill>
                <a:effectLst/>
                <a:latin typeface="Times" pitchFamily="2" charset="0"/>
              </a:rPr>
              <a:t>ce can always count as 11 if you want</a:t>
            </a:r>
          </a:p>
          <a:p>
            <a:pPr algn="l"/>
            <a:r>
              <a:rPr lang="en-US" sz="2000" b="0" i="0" u="none" strike="noStrike" dirty="0">
                <a:solidFill>
                  <a:srgbClr val="202122"/>
                </a:solidFill>
                <a:effectLst/>
                <a:latin typeface="Times" pitchFamily="2" charset="0"/>
              </a:rPr>
              <a:t>‘Play' 100,000 hands, and count how often the player wins/draws/loses for each starting value when Standing and Hitting</a:t>
            </a:r>
          </a:p>
          <a:p>
            <a:pPr algn="l"/>
            <a:r>
              <a:rPr lang="en-US" sz="2000" dirty="0">
                <a:solidFill>
                  <a:srgbClr val="202122"/>
                </a:solidFill>
                <a:latin typeface="Times" pitchFamily="2" charset="0"/>
              </a:rPr>
              <a:t>E</a:t>
            </a:r>
            <a:r>
              <a:rPr lang="en-US" sz="2000" b="0" i="0" u="none" strike="noStrike" dirty="0">
                <a:solidFill>
                  <a:srgbClr val="202122"/>
                </a:solidFill>
                <a:effectLst/>
                <a:latin typeface="Times" pitchFamily="2" charset="0"/>
              </a:rPr>
              <a:t>nd up with a table of results for starting values from 4-22 ( that's bad but it's ok ), and then a count of win/loss/draw for hit and win/loss/draw for stand</a:t>
            </a:r>
          </a:p>
          <a:p>
            <a:pPr algn="l"/>
            <a:r>
              <a:rPr lang="en-US" sz="2000" b="0" i="0" u="none" strike="noStrike" dirty="0">
                <a:solidFill>
                  <a:srgbClr val="202122"/>
                </a:solidFill>
                <a:effectLst/>
                <a:latin typeface="Times" pitchFamily="2" charset="0"/>
              </a:rPr>
              <a:t>Dealer will always take another card if their total is &lt;= 16</a:t>
            </a:r>
          </a:p>
          <a:p>
            <a:pPr marL="0" indent="0">
              <a:buNone/>
            </a:pPr>
            <a:br>
              <a:rPr lang="en-US" sz="1200" dirty="0">
                <a:latin typeface="Times" pitchFamily="2" charset="0"/>
              </a:rPr>
            </a:br>
            <a:endParaRPr lang="en-US" sz="1200" dirty="0">
              <a:latin typeface="Times" pitchFamily="2" charset="0"/>
            </a:endParaRPr>
          </a:p>
        </p:txBody>
      </p:sp>
    </p:spTree>
    <p:extLst>
      <p:ext uri="{BB962C8B-B14F-4D97-AF65-F5344CB8AC3E}">
        <p14:creationId xmlns:p14="http://schemas.microsoft.com/office/powerpoint/2010/main" val="616536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A3FD-D3DA-D562-BA7A-245C51CC7962}"/>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Flowchart</a:t>
            </a:r>
          </a:p>
        </p:txBody>
      </p:sp>
      <p:sp>
        <p:nvSpPr>
          <p:cNvPr id="7" name="Content Placeholder 2">
            <a:extLst>
              <a:ext uri="{FF2B5EF4-FFF2-40B4-BE49-F238E27FC236}">
                <a16:creationId xmlns:a16="http://schemas.microsoft.com/office/drawing/2014/main" id="{3AB7F5EF-62E7-C9CD-E355-523531947BC1}"/>
              </a:ext>
            </a:extLst>
          </p:cNvPr>
          <p:cNvSpPr>
            <a:spLocks noGrp="1"/>
          </p:cNvSpPr>
          <p:nvPr>
            <p:ph idx="1"/>
          </p:nvPr>
        </p:nvSpPr>
        <p:spPr>
          <a:xfrm>
            <a:off x="4810259" y="649480"/>
            <a:ext cx="6555347" cy="5546047"/>
          </a:xfrm>
        </p:spPr>
        <p:txBody>
          <a:bodyPr anchor="ctr">
            <a:normAutofit/>
          </a:bodyPr>
          <a:lstStyle/>
          <a:p>
            <a:pPr marL="0" indent="0">
              <a:buNone/>
            </a:pPr>
            <a:endParaRPr lang="en-US" sz="2000" dirty="0"/>
          </a:p>
          <a:p>
            <a:pPr marL="0" indent="0">
              <a:buNone/>
            </a:pPr>
            <a:r>
              <a:rPr lang="en-US" sz="2000" dirty="0"/>
              <a:t>---&gt; Run Simulation function</a:t>
            </a:r>
          </a:p>
          <a:p>
            <a:pPr marL="0" indent="0">
              <a:buNone/>
            </a:pPr>
            <a:r>
              <a:rPr lang="en-US" sz="2000" dirty="0"/>
              <a:t> 	---&gt; Calls Calculate Hand Value, Dealer Turn, Simulate Player Turn, and Determine Winner functions</a:t>
            </a:r>
          </a:p>
          <a:p>
            <a:pPr marL="0" indent="0">
              <a:buNone/>
            </a:pPr>
            <a:r>
              <a:rPr lang="en-US" sz="2000" dirty="0"/>
              <a:t>---&gt; Output: Results of the simulation</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2854256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Flowchart for Functions (Hand Value)</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644272" y="487910"/>
            <a:ext cx="7019791" cy="5922770"/>
          </a:xfrm>
        </p:spPr>
        <p:txBody>
          <a:bodyPr anchor="ctr">
            <a:normAutofit/>
          </a:bodyPr>
          <a:lstStyle/>
          <a:p>
            <a:pPr marL="0" indent="0">
              <a:buNone/>
            </a:pPr>
            <a:endParaRPr lang="en-US" sz="1600" dirty="0">
              <a:latin typeface="Times" pitchFamily="2" charset="0"/>
            </a:endParaRPr>
          </a:p>
          <a:p>
            <a:pPr marL="0" indent="0">
              <a:buNone/>
            </a:pPr>
            <a:r>
              <a:rPr lang="en-US" sz="1600" dirty="0">
                <a:latin typeface="Times" pitchFamily="2" charset="0"/>
              </a:rPr>
              <a:t>---&gt; Input: Hand of cards</a:t>
            </a:r>
          </a:p>
          <a:p>
            <a:pPr marL="0" indent="0">
              <a:buNone/>
            </a:pPr>
            <a:endParaRPr lang="en-US" sz="1600" dirty="0">
              <a:latin typeface="Times" pitchFamily="2" charset="0"/>
            </a:endParaRPr>
          </a:p>
          <a:p>
            <a:pPr marL="0" indent="0">
              <a:buNone/>
            </a:pPr>
            <a:r>
              <a:rPr lang="en-US" sz="1600" dirty="0">
                <a:latin typeface="Times" pitchFamily="2" charset="0"/>
              </a:rPr>
              <a:t>       --&gt; Initialize total value = 0</a:t>
            </a:r>
          </a:p>
          <a:p>
            <a:pPr marL="0" indent="0">
              <a:buNone/>
            </a:pPr>
            <a:r>
              <a:rPr lang="en-US" sz="1600" dirty="0">
                <a:latin typeface="Times" pitchFamily="2" charset="0"/>
              </a:rPr>
              <a:t>      ---&gt; Initialize number of aces = 0</a:t>
            </a:r>
          </a:p>
          <a:p>
            <a:pPr marL="0" indent="0">
              <a:buNone/>
            </a:pPr>
            <a:endParaRPr lang="en-US" sz="1600" dirty="0">
              <a:latin typeface="Times" pitchFamily="2" charset="0"/>
            </a:endParaRPr>
          </a:p>
          <a:p>
            <a:pPr marL="0" indent="0">
              <a:buNone/>
            </a:pPr>
            <a:r>
              <a:rPr lang="en-US" sz="1600" dirty="0">
                <a:latin typeface="Times" pitchFamily="2" charset="0"/>
              </a:rPr>
              <a:t>---&gt; Loop through each card in the hand</a:t>
            </a:r>
          </a:p>
          <a:p>
            <a:pPr marL="0" indent="0">
              <a:buNone/>
            </a:pPr>
            <a:r>
              <a:rPr lang="en-US" sz="1600" dirty="0">
                <a:latin typeface="Times" pitchFamily="2" charset="0"/>
              </a:rPr>
              <a:t>      </a:t>
            </a:r>
          </a:p>
          <a:p>
            <a:pPr marL="0" indent="0">
              <a:buNone/>
            </a:pPr>
            <a:r>
              <a:rPr lang="en-US" sz="1600" dirty="0">
                <a:latin typeface="Times" pitchFamily="2" charset="0"/>
              </a:rPr>
              <a:t>       ---&gt; Add card value to total value</a:t>
            </a:r>
          </a:p>
          <a:p>
            <a:pPr marL="0" indent="0">
              <a:buNone/>
            </a:pPr>
            <a:r>
              <a:rPr lang="en-US" sz="1600" dirty="0">
                <a:latin typeface="Times" pitchFamily="2" charset="0"/>
              </a:rPr>
              <a:t>       ---&gt; If card is an ace, increment number of aces</a:t>
            </a:r>
          </a:p>
          <a:p>
            <a:pPr marL="0" indent="0">
              <a:buNone/>
            </a:pPr>
            <a:r>
              <a:rPr lang="en-US" sz="1600" dirty="0">
                <a:latin typeface="Times" pitchFamily="2" charset="0"/>
              </a:rPr>
              <a:t>       </a:t>
            </a:r>
          </a:p>
          <a:p>
            <a:pPr marL="0" indent="0">
              <a:buNone/>
            </a:pPr>
            <a:r>
              <a:rPr lang="en-US" sz="1600" dirty="0">
                <a:latin typeface="Times" pitchFamily="2" charset="0"/>
              </a:rPr>
              <a:t>---&gt; While total value is greater than 21 and number of aces is not zero</a:t>
            </a:r>
          </a:p>
          <a:p>
            <a:pPr marL="0" indent="0">
              <a:buNone/>
            </a:pPr>
            <a:r>
              <a:rPr lang="en-US" sz="1600" dirty="0">
                <a:latin typeface="Times" pitchFamily="2" charset="0"/>
              </a:rPr>
              <a:t>       </a:t>
            </a:r>
          </a:p>
          <a:p>
            <a:pPr marL="0" indent="0">
              <a:buNone/>
            </a:pPr>
            <a:r>
              <a:rPr lang="en-US" sz="1600" dirty="0">
                <a:latin typeface="Times" pitchFamily="2" charset="0"/>
              </a:rPr>
              <a:t>       ---&gt; Subtract 10 from total value</a:t>
            </a:r>
          </a:p>
          <a:p>
            <a:pPr marL="0" indent="0">
              <a:buNone/>
            </a:pPr>
            <a:r>
              <a:rPr lang="en-US" sz="1600" dirty="0">
                <a:latin typeface="Times" pitchFamily="2" charset="0"/>
              </a:rPr>
              <a:t>       ---&gt; Decrement number of aces</a:t>
            </a:r>
          </a:p>
          <a:p>
            <a:pPr marL="0" indent="0">
              <a:buNone/>
            </a:pPr>
            <a:r>
              <a:rPr lang="en-US" sz="1600" dirty="0">
                <a:latin typeface="Times" pitchFamily="2" charset="0"/>
              </a:rPr>
              <a:t>       </a:t>
            </a:r>
          </a:p>
          <a:p>
            <a:pPr marL="0" indent="0">
              <a:buNone/>
            </a:pPr>
            <a:r>
              <a:rPr lang="en-US" sz="1600" dirty="0">
                <a:latin typeface="Times" pitchFamily="2" charset="0"/>
              </a:rPr>
              <a:t>---&gt; Output: Total value of the hand</a:t>
            </a:r>
          </a:p>
          <a:p>
            <a:endParaRPr lang="en-US" sz="1100" dirty="0"/>
          </a:p>
        </p:txBody>
      </p:sp>
    </p:spTree>
    <p:extLst>
      <p:ext uri="{BB962C8B-B14F-4D97-AF65-F5344CB8AC3E}">
        <p14:creationId xmlns:p14="http://schemas.microsoft.com/office/powerpoint/2010/main" val="55004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Flowchart for Functions (Dealer Turn)</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644272" y="487910"/>
            <a:ext cx="7019791" cy="5922770"/>
          </a:xfrm>
        </p:spPr>
        <p:txBody>
          <a:bodyPr anchor="ctr">
            <a:normAutofit/>
          </a:bodyPr>
          <a:lstStyle/>
          <a:p>
            <a:pPr marL="0" indent="0">
              <a:buNone/>
            </a:pPr>
            <a:r>
              <a:rPr lang="en-US" sz="2400" dirty="0"/>
              <a:t>---&gt; Generate random hand of cards for the dealer</a:t>
            </a:r>
          </a:p>
          <a:p>
            <a:pPr marL="0" indent="0">
              <a:buNone/>
            </a:pPr>
            <a:r>
              <a:rPr lang="en-US" sz="2400" dirty="0"/>
              <a:t>       </a:t>
            </a:r>
          </a:p>
          <a:p>
            <a:pPr marL="0" indent="0">
              <a:buNone/>
            </a:pPr>
            <a:r>
              <a:rPr lang="en-US" sz="2400" dirty="0"/>
              <a:t>       ---&gt; Initialize dealer hand</a:t>
            </a:r>
          </a:p>
          <a:p>
            <a:pPr marL="0" indent="0">
              <a:buNone/>
            </a:pPr>
            <a:r>
              <a:rPr lang="en-US" sz="2400" dirty="0"/>
              <a:t>       ---&gt; Loop while total value of dealer hand is less than 17</a:t>
            </a:r>
          </a:p>
          <a:p>
            <a:pPr marL="0" indent="0">
              <a:buNone/>
            </a:pPr>
            <a:r>
              <a:rPr lang="en-US" sz="2400" dirty="0"/>
              <a:t>  </a:t>
            </a:r>
          </a:p>
          <a:p>
            <a:pPr marL="0" indent="0">
              <a:buNone/>
            </a:pPr>
            <a:r>
              <a:rPr lang="en-US" sz="2400" dirty="0"/>
              <a:t>              ---&gt; Draw a card and add it to dealer hand</a:t>
            </a:r>
          </a:p>
          <a:p>
            <a:pPr marL="0" indent="0">
              <a:buNone/>
            </a:pPr>
            <a:r>
              <a:rPr lang="en-US" sz="2400" dirty="0"/>
              <a:t>               </a:t>
            </a:r>
          </a:p>
          <a:p>
            <a:pPr marL="0" indent="0">
              <a:buNone/>
            </a:pPr>
            <a:r>
              <a:rPr lang="en-US" sz="2400" dirty="0"/>
              <a:t>---&gt; Output: Dealer hand after completing the loop</a:t>
            </a:r>
          </a:p>
          <a:p>
            <a:endParaRPr lang="en-US" sz="1100" dirty="0"/>
          </a:p>
        </p:txBody>
      </p:sp>
    </p:spTree>
    <p:extLst>
      <p:ext uri="{BB962C8B-B14F-4D97-AF65-F5344CB8AC3E}">
        <p14:creationId xmlns:p14="http://schemas.microsoft.com/office/powerpoint/2010/main" val="356862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Flowchart for Functions (Player Turn)</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644272" y="487910"/>
            <a:ext cx="7019791" cy="5922770"/>
          </a:xfrm>
        </p:spPr>
        <p:txBody>
          <a:bodyPr anchor="ctr">
            <a:normAutofit/>
          </a:bodyPr>
          <a:lstStyle/>
          <a:p>
            <a:pPr marL="0" indent="0">
              <a:buNone/>
            </a:pPr>
            <a:r>
              <a:rPr lang="en-US" sz="2000" dirty="0"/>
              <a:t>---&gt; Input: Starting value for player's hand</a:t>
            </a:r>
          </a:p>
          <a:p>
            <a:pPr marL="0" indent="0">
              <a:buNone/>
            </a:pPr>
            <a:r>
              <a:rPr lang="en-US" sz="2000" dirty="0"/>
              <a:t>       </a:t>
            </a:r>
          </a:p>
          <a:p>
            <a:pPr marL="0" indent="0">
              <a:buNone/>
            </a:pPr>
            <a:r>
              <a:rPr lang="en-US" sz="2000" dirty="0"/>
              <a:t>       ---&gt; Initialize player hand</a:t>
            </a:r>
          </a:p>
          <a:p>
            <a:pPr marL="0" indent="0">
              <a:buNone/>
            </a:pPr>
            <a:r>
              <a:rPr lang="en-US" sz="2000" dirty="0"/>
              <a:t>       ---&gt; Loop while total value of player hand is less than or equal to 21</a:t>
            </a:r>
          </a:p>
          <a:p>
            <a:pPr marL="0" indent="0">
              <a:buNone/>
            </a:pPr>
            <a:r>
              <a:rPr lang="en-US" sz="2000" dirty="0"/>
              <a:t>               </a:t>
            </a:r>
          </a:p>
          <a:p>
            <a:pPr marL="0" indent="0">
              <a:buNone/>
            </a:pPr>
            <a:r>
              <a:rPr lang="en-US" sz="2000" dirty="0"/>
              <a:t>               ---&gt; Generate random choice (hit or stand)</a:t>
            </a:r>
          </a:p>
          <a:p>
            <a:pPr marL="0" indent="0">
              <a:buNone/>
            </a:pPr>
            <a:r>
              <a:rPr lang="en-US" sz="2000" dirty="0"/>
              <a:t>               ---&gt; If choice is hit, draw a card and add it to player hand</a:t>
            </a:r>
          </a:p>
          <a:p>
            <a:pPr marL="0" indent="0">
              <a:buNone/>
            </a:pPr>
            <a:r>
              <a:rPr lang="en-US" sz="2000" dirty="0"/>
              <a:t>               ---&gt; If choice is stand or total value exceeds 21, exit loop</a:t>
            </a:r>
          </a:p>
          <a:p>
            <a:pPr marL="0" indent="0">
              <a:buNone/>
            </a:pPr>
            <a:r>
              <a:rPr lang="en-US" sz="2000" dirty="0"/>
              <a:t>               </a:t>
            </a:r>
          </a:p>
          <a:p>
            <a:pPr marL="0" indent="0">
              <a:buNone/>
            </a:pPr>
            <a:r>
              <a:rPr lang="en-US" sz="2000" dirty="0"/>
              <a:t>---&gt; Output: Updated player hand after simulating the turn</a:t>
            </a:r>
          </a:p>
          <a:p>
            <a:endParaRPr lang="en-US" sz="1100" dirty="0"/>
          </a:p>
        </p:txBody>
      </p:sp>
    </p:spTree>
    <p:extLst>
      <p:ext uri="{BB962C8B-B14F-4D97-AF65-F5344CB8AC3E}">
        <p14:creationId xmlns:p14="http://schemas.microsoft.com/office/powerpoint/2010/main" val="3384653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147637" y="586855"/>
            <a:ext cx="3842584" cy="3387497"/>
          </a:xfrm>
        </p:spPr>
        <p:txBody>
          <a:bodyPr anchor="b">
            <a:normAutofit/>
          </a:bodyPr>
          <a:lstStyle/>
          <a:p>
            <a:pPr algn="r"/>
            <a:r>
              <a:rPr lang="en-US" sz="4000" b="1" dirty="0">
                <a:solidFill>
                  <a:srgbClr val="FFFFFF"/>
                </a:solidFill>
              </a:rPr>
              <a:t>Flowchart for Functions (Determine winner)</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134810" y="355242"/>
            <a:ext cx="7909553" cy="6167792"/>
          </a:xfrm>
        </p:spPr>
        <p:txBody>
          <a:bodyPr anchor="ctr">
            <a:normAutofit fontScale="40000" lnSpcReduction="20000"/>
          </a:bodyPr>
          <a:lstStyle/>
          <a:p>
            <a:pPr marL="0" indent="0">
              <a:buNone/>
            </a:pPr>
            <a:r>
              <a:rPr lang="en-US" sz="3000" dirty="0">
                <a:latin typeface="Times" pitchFamily="2" charset="0"/>
              </a:rPr>
              <a:t>---&gt; Input: Player's hand, Dealer's hand</a:t>
            </a:r>
          </a:p>
          <a:p>
            <a:pPr marL="0" indent="0">
              <a:buNone/>
            </a:pPr>
            <a:r>
              <a:rPr lang="en-US" sz="3000" dirty="0">
                <a:latin typeface="Times" pitchFamily="2" charset="0"/>
              </a:rPr>
              <a:t>      </a:t>
            </a:r>
          </a:p>
          <a:p>
            <a:pPr marL="0" indent="0">
              <a:buNone/>
            </a:pPr>
            <a:r>
              <a:rPr lang="en-US" sz="3000" dirty="0">
                <a:latin typeface="Times" pitchFamily="2" charset="0"/>
              </a:rPr>
              <a:t>       ---&gt; Calculate total value of player's hand</a:t>
            </a:r>
          </a:p>
          <a:p>
            <a:pPr marL="0" indent="0">
              <a:buNone/>
            </a:pPr>
            <a:r>
              <a:rPr lang="en-US" sz="3000" dirty="0">
                <a:latin typeface="Times" pitchFamily="2" charset="0"/>
              </a:rPr>
              <a:t>       ---&gt; Calculate total value of dealer's hand</a:t>
            </a:r>
          </a:p>
          <a:p>
            <a:pPr marL="0" indent="0">
              <a:buNone/>
            </a:pPr>
            <a:r>
              <a:rPr lang="en-US" sz="3000" dirty="0">
                <a:latin typeface="Times" pitchFamily="2" charset="0"/>
              </a:rPr>
              <a:t>      </a:t>
            </a:r>
          </a:p>
          <a:p>
            <a:pPr marL="0" indent="0">
              <a:buNone/>
            </a:pPr>
            <a:r>
              <a:rPr lang="en-US" sz="3000" dirty="0">
                <a:latin typeface="Times" pitchFamily="2" charset="0"/>
              </a:rPr>
              <a:t>---&gt; If player's hand value is greater than 21</a:t>
            </a:r>
          </a:p>
          <a:p>
            <a:pPr marL="0" indent="0">
              <a:buNone/>
            </a:pPr>
            <a:r>
              <a:rPr lang="en-US" sz="3000" dirty="0">
                <a:latin typeface="Times" pitchFamily="2" charset="0"/>
              </a:rPr>
              <a:t>       </a:t>
            </a:r>
          </a:p>
          <a:p>
            <a:pPr marL="0" indent="0">
              <a:buNone/>
            </a:pPr>
            <a:r>
              <a:rPr lang="en-US" sz="3000" dirty="0">
                <a:latin typeface="Times" pitchFamily="2" charset="0"/>
              </a:rPr>
              <a:t>       ---&gt; Output: "Player loses"</a:t>
            </a:r>
          </a:p>
          <a:p>
            <a:pPr marL="0" indent="0">
              <a:buNone/>
            </a:pPr>
            <a:r>
              <a:rPr lang="en-US" sz="3000" dirty="0">
                <a:latin typeface="Times" pitchFamily="2" charset="0"/>
              </a:rPr>
              <a:t>       </a:t>
            </a:r>
          </a:p>
          <a:p>
            <a:pPr marL="0" indent="0">
              <a:buNone/>
            </a:pPr>
            <a:r>
              <a:rPr lang="en-US" sz="3000" dirty="0">
                <a:latin typeface="Times" pitchFamily="2" charset="0"/>
              </a:rPr>
              <a:t>---&gt; If dealer's hand value is greater than 21</a:t>
            </a:r>
          </a:p>
          <a:p>
            <a:pPr marL="0" indent="0">
              <a:buNone/>
            </a:pPr>
            <a:r>
              <a:rPr lang="en-US" sz="3000" dirty="0">
                <a:latin typeface="Times" pitchFamily="2" charset="0"/>
              </a:rPr>
              <a:t>       </a:t>
            </a:r>
          </a:p>
          <a:p>
            <a:pPr marL="0" indent="0">
              <a:buNone/>
            </a:pPr>
            <a:r>
              <a:rPr lang="en-US" sz="3000" dirty="0">
                <a:latin typeface="Times" pitchFamily="2" charset="0"/>
              </a:rPr>
              <a:t>     ---&gt; Output: "Player wins"</a:t>
            </a:r>
          </a:p>
          <a:p>
            <a:pPr marL="0" indent="0">
              <a:buNone/>
            </a:pPr>
            <a:r>
              <a:rPr lang="en-US" sz="3000" dirty="0">
                <a:latin typeface="Times" pitchFamily="2" charset="0"/>
              </a:rPr>
              <a:t>       </a:t>
            </a:r>
          </a:p>
          <a:p>
            <a:pPr marL="0" indent="0">
              <a:buNone/>
            </a:pPr>
            <a:r>
              <a:rPr lang="en-US" sz="3000" dirty="0">
                <a:latin typeface="Times" pitchFamily="2" charset="0"/>
              </a:rPr>
              <a:t>---&gt; If player's hand value is greater than dealer's hand value</a:t>
            </a:r>
          </a:p>
          <a:p>
            <a:pPr marL="0" indent="0">
              <a:buNone/>
            </a:pPr>
            <a:r>
              <a:rPr lang="en-US" sz="3000" dirty="0">
                <a:latin typeface="Times" pitchFamily="2" charset="0"/>
              </a:rPr>
              <a:t>      </a:t>
            </a:r>
          </a:p>
          <a:p>
            <a:pPr marL="0" indent="0">
              <a:buNone/>
            </a:pPr>
            <a:r>
              <a:rPr lang="en-US" sz="3000" dirty="0">
                <a:latin typeface="Times" pitchFamily="2" charset="0"/>
              </a:rPr>
              <a:t>       ---&gt; Output: "Player wins"</a:t>
            </a:r>
          </a:p>
          <a:p>
            <a:pPr marL="0" indent="0">
              <a:buNone/>
            </a:pPr>
            <a:r>
              <a:rPr lang="en-US" sz="3000" dirty="0">
                <a:latin typeface="Times" pitchFamily="2" charset="0"/>
              </a:rPr>
              <a:t>       </a:t>
            </a:r>
          </a:p>
          <a:p>
            <a:pPr marL="0" indent="0">
              <a:buNone/>
            </a:pPr>
            <a:r>
              <a:rPr lang="en-US" sz="3000" dirty="0">
                <a:latin typeface="Times" pitchFamily="2" charset="0"/>
              </a:rPr>
              <a:t>---&gt; If player's hand value is less than dealer's hand value</a:t>
            </a:r>
          </a:p>
          <a:p>
            <a:pPr marL="0" indent="0">
              <a:buNone/>
            </a:pPr>
            <a:r>
              <a:rPr lang="en-US" sz="3000" dirty="0">
                <a:latin typeface="Times" pitchFamily="2" charset="0"/>
              </a:rPr>
              <a:t>       </a:t>
            </a:r>
          </a:p>
          <a:p>
            <a:pPr marL="0" indent="0">
              <a:buNone/>
            </a:pPr>
            <a:r>
              <a:rPr lang="en-US" sz="3000" dirty="0">
                <a:latin typeface="Times" pitchFamily="2" charset="0"/>
              </a:rPr>
              <a:t>       ---&gt; Output: "Player loses"</a:t>
            </a:r>
          </a:p>
          <a:p>
            <a:pPr marL="0" indent="0">
              <a:buNone/>
            </a:pPr>
            <a:r>
              <a:rPr lang="en-US" sz="3000" dirty="0">
                <a:latin typeface="Times" pitchFamily="2" charset="0"/>
              </a:rPr>
              <a:t>       </a:t>
            </a:r>
          </a:p>
          <a:p>
            <a:pPr marL="0" indent="0">
              <a:buNone/>
            </a:pPr>
            <a:r>
              <a:rPr lang="en-US" sz="3000" dirty="0">
                <a:latin typeface="Times" pitchFamily="2" charset="0"/>
              </a:rPr>
              <a:t>---&gt; Otherwise (player's hand value is equal to dealer's hand value)</a:t>
            </a:r>
          </a:p>
          <a:p>
            <a:pPr marL="0" indent="0">
              <a:buNone/>
            </a:pPr>
            <a:r>
              <a:rPr lang="en-US" sz="3000" dirty="0">
                <a:latin typeface="Times" pitchFamily="2" charset="0"/>
              </a:rPr>
              <a:t>       </a:t>
            </a:r>
          </a:p>
          <a:p>
            <a:pPr marL="0" indent="0">
              <a:buNone/>
            </a:pPr>
            <a:r>
              <a:rPr lang="en-US" sz="3000" dirty="0">
                <a:latin typeface="Times" pitchFamily="2" charset="0"/>
              </a:rPr>
              <a:t>       ---&gt; Output: "Draw"</a:t>
            </a:r>
          </a:p>
          <a:p>
            <a:pPr marL="0" indent="0">
              <a:buNone/>
            </a:pPr>
            <a:endParaRPr lang="en-US" sz="1100" dirty="0"/>
          </a:p>
        </p:txBody>
      </p:sp>
    </p:spTree>
    <p:extLst>
      <p:ext uri="{BB962C8B-B14F-4D97-AF65-F5344CB8AC3E}">
        <p14:creationId xmlns:p14="http://schemas.microsoft.com/office/powerpoint/2010/main" val="72551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0" y="535899"/>
            <a:ext cx="3949461" cy="3387497"/>
          </a:xfrm>
        </p:spPr>
        <p:txBody>
          <a:bodyPr anchor="b">
            <a:normAutofit/>
          </a:bodyPr>
          <a:lstStyle/>
          <a:p>
            <a:pPr algn="r"/>
            <a:r>
              <a:rPr lang="en-US" sz="4000" b="1" dirty="0">
                <a:solidFill>
                  <a:srgbClr val="FFFFFF"/>
                </a:solidFill>
              </a:rPr>
              <a:t>Flowchart for Functions </a:t>
            </a:r>
            <a:br>
              <a:rPr lang="en-US" sz="4000" b="1" dirty="0">
                <a:solidFill>
                  <a:srgbClr val="FFFFFF"/>
                </a:solidFill>
              </a:rPr>
            </a:br>
            <a:r>
              <a:rPr lang="en-US" sz="4000" b="1" dirty="0">
                <a:solidFill>
                  <a:srgbClr val="FFFFFF"/>
                </a:solidFill>
              </a:rPr>
              <a:t>(Run Simulation)</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134810" y="355242"/>
            <a:ext cx="7909553" cy="6167792"/>
          </a:xfrm>
        </p:spPr>
        <p:txBody>
          <a:bodyPr anchor="ctr">
            <a:normAutofit fontScale="62500" lnSpcReduction="20000"/>
          </a:bodyPr>
          <a:lstStyle/>
          <a:p>
            <a:pPr marL="0" indent="0">
              <a:buNone/>
            </a:pPr>
            <a:r>
              <a:rPr lang="en-US" sz="3000" dirty="0">
                <a:latin typeface="Times" pitchFamily="2" charset="0"/>
              </a:rPr>
              <a:t>---&gt; Initialize results dictionary</a:t>
            </a:r>
          </a:p>
          <a:p>
            <a:pPr marL="0" indent="0">
              <a:buNone/>
            </a:pPr>
            <a:endParaRPr lang="en-US" sz="3000" dirty="0">
              <a:latin typeface="Times" pitchFamily="2" charset="0"/>
            </a:endParaRPr>
          </a:p>
          <a:p>
            <a:pPr marL="0" indent="0">
              <a:buNone/>
            </a:pPr>
            <a:r>
              <a:rPr lang="en-US" sz="3000" dirty="0">
                <a:latin typeface="Times" pitchFamily="2" charset="0"/>
              </a:rPr>
              <a:t>---&gt; Loop through each starting value from 4 to 22</a:t>
            </a:r>
          </a:p>
          <a:p>
            <a:pPr marL="0" indent="0">
              <a:buNone/>
            </a:pPr>
            <a:r>
              <a:rPr lang="en-US" sz="3000" dirty="0">
                <a:latin typeface="Times" pitchFamily="2" charset="0"/>
              </a:rPr>
              <a:t>       </a:t>
            </a:r>
          </a:p>
          <a:p>
            <a:pPr marL="0" indent="0">
              <a:buNone/>
            </a:pPr>
            <a:r>
              <a:rPr lang="en-US" sz="3000" dirty="0">
                <a:latin typeface="Times" pitchFamily="2" charset="0"/>
              </a:rPr>
              <a:t>       ---&gt; Initialize win, loss, and draw counts for hitting and standing to 0</a:t>
            </a:r>
          </a:p>
          <a:p>
            <a:pPr marL="0" indent="0">
              <a:buNone/>
            </a:pPr>
            <a:r>
              <a:rPr lang="en-US" sz="3000" dirty="0">
                <a:latin typeface="Times" pitchFamily="2" charset="0"/>
              </a:rPr>
              <a:t>       </a:t>
            </a:r>
          </a:p>
          <a:p>
            <a:pPr marL="0" indent="0">
              <a:buNone/>
            </a:pPr>
            <a:r>
              <a:rPr lang="en-US" sz="3000" dirty="0">
                <a:latin typeface="Times" pitchFamily="2" charset="0"/>
              </a:rPr>
              <a:t>       ---&gt; Loop 100,000 times</a:t>
            </a:r>
          </a:p>
          <a:p>
            <a:pPr marL="0" indent="0">
              <a:buNone/>
            </a:pPr>
            <a:r>
              <a:rPr lang="en-US" sz="3000" dirty="0">
                <a:latin typeface="Times" pitchFamily="2" charset="0"/>
              </a:rPr>
              <a:t>               </a:t>
            </a:r>
          </a:p>
          <a:p>
            <a:pPr marL="0" indent="0">
              <a:buNone/>
            </a:pPr>
            <a:r>
              <a:rPr lang="en-US" sz="3000" dirty="0">
                <a:latin typeface="Times" pitchFamily="2" charset="0"/>
              </a:rPr>
              <a:t>              ---&gt; Generate random starting value for player's hand</a:t>
            </a:r>
          </a:p>
          <a:p>
            <a:pPr marL="0" indent="0">
              <a:buNone/>
            </a:pPr>
            <a:r>
              <a:rPr lang="en-US" sz="3000" dirty="0">
                <a:latin typeface="Times" pitchFamily="2" charset="0"/>
              </a:rPr>
              <a:t>               ---&gt; Simulate player's turn</a:t>
            </a:r>
          </a:p>
          <a:p>
            <a:pPr marL="0" indent="0">
              <a:buNone/>
            </a:pPr>
            <a:r>
              <a:rPr lang="en-US" sz="3000" dirty="0">
                <a:latin typeface="Times" pitchFamily="2" charset="0"/>
              </a:rPr>
              <a:t>               ---&gt; Simulate dealer's turn</a:t>
            </a:r>
          </a:p>
          <a:p>
            <a:pPr marL="0" indent="0">
              <a:buNone/>
            </a:pPr>
            <a:r>
              <a:rPr lang="en-US" sz="3000" dirty="0">
                <a:latin typeface="Times" pitchFamily="2" charset="0"/>
              </a:rPr>
              <a:t>               ---&gt; Determine winner for hitting</a:t>
            </a:r>
          </a:p>
          <a:p>
            <a:pPr marL="0" indent="0">
              <a:buNone/>
            </a:pPr>
            <a:r>
              <a:rPr lang="en-US" sz="3000" dirty="0">
                <a:latin typeface="Times" pitchFamily="2" charset="0"/>
              </a:rPr>
              <a:t>               ---&gt; Determine winner for standing</a:t>
            </a:r>
          </a:p>
          <a:p>
            <a:pPr marL="0" indent="0">
              <a:buNone/>
            </a:pPr>
            <a:r>
              <a:rPr lang="en-US" sz="3000" dirty="0">
                <a:latin typeface="Times" pitchFamily="2" charset="0"/>
              </a:rPr>
              <a:t>               ---&gt; Update win, loss, and draw counts accordingly</a:t>
            </a:r>
          </a:p>
          <a:p>
            <a:pPr marL="0" indent="0">
              <a:buNone/>
            </a:pPr>
            <a:r>
              <a:rPr lang="en-US" sz="3000" dirty="0">
                <a:latin typeface="Times" pitchFamily="2" charset="0"/>
              </a:rPr>
              <a:t>               </a:t>
            </a:r>
          </a:p>
          <a:p>
            <a:pPr marL="0" indent="0">
              <a:buNone/>
            </a:pPr>
            <a:r>
              <a:rPr lang="en-US" sz="3000" dirty="0">
                <a:latin typeface="Times" pitchFamily="2" charset="0"/>
              </a:rPr>
              <a:t>       ---&gt; Store results for the current starting value in the results dictionary</a:t>
            </a:r>
          </a:p>
          <a:p>
            <a:pPr marL="0" indent="0">
              <a:buNone/>
            </a:pPr>
            <a:endParaRPr lang="en-US" sz="3000" dirty="0">
              <a:latin typeface="Times" pitchFamily="2" charset="0"/>
            </a:endParaRPr>
          </a:p>
          <a:p>
            <a:pPr marL="0" indent="0">
              <a:buNone/>
            </a:pPr>
            <a:r>
              <a:rPr lang="en-US" sz="3000" dirty="0">
                <a:latin typeface="Times" pitchFamily="2" charset="0"/>
              </a:rPr>
              <a:t>---&gt; Output: Results dictionary</a:t>
            </a:r>
          </a:p>
        </p:txBody>
      </p:sp>
    </p:spTree>
    <p:extLst>
      <p:ext uri="{BB962C8B-B14F-4D97-AF65-F5344CB8AC3E}">
        <p14:creationId xmlns:p14="http://schemas.microsoft.com/office/powerpoint/2010/main" val="1024144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9C83E-2FCF-A776-43C6-00A71521CD5D}"/>
              </a:ext>
            </a:extLst>
          </p:cNvPr>
          <p:cNvSpPr>
            <a:spLocks noGrp="1"/>
          </p:cNvSpPr>
          <p:nvPr>
            <p:ph type="title"/>
          </p:nvPr>
        </p:nvSpPr>
        <p:spPr>
          <a:xfrm>
            <a:off x="281373" y="535899"/>
            <a:ext cx="3668088" cy="3387497"/>
          </a:xfrm>
        </p:spPr>
        <p:txBody>
          <a:bodyPr anchor="b">
            <a:normAutofit/>
          </a:bodyPr>
          <a:lstStyle/>
          <a:p>
            <a:pPr algn="r"/>
            <a:r>
              <a:rPr lang="en-US" sz="4000" b="1" dirty="0">
                <a:solidFill>
                  <a:srgbClr val="FFFFFF"/>
                </a:solidFill>
              </a:rPr>
              <a:t>Flowchart for Functions </a:t>
            </a:r>
            <a:br>
              <a:rPr lang="en-US" sz="4000" b="1" dirty="0">
                <a:solidFill>
                  <a:srgbClr val="FFFFFF"/>
                </a:solidFill>
              </a:rPr>
            </a:br>
            <a:r>
              <a:rPr lang="en-US" sz="4000" b="1" dirty="0">
                <a:solidFill>
                  <a:srgbClr val="FFFFFF"/>
                </a:solidFill>
              </a:rPr>
              <a:t>(Print the results into a table)</a:t>
            </a:r>
          </a:p>
        </p:txBody>
      </p:sp>
      <p:sp>
        <p:nvSpPr>
          <p:cNvPr id="3" name="Content Placeholder 2">
            <a:extLst>
              <a:ext uri="{FF2B5EF4-FFF2-40B4-BE49-F238E27FC236}">
                <a16:creationId xmlns:a16="http://schemas.microsoft.com/office/drawing/2014/main" id="{8BE572CE-8283-3BA8-71C5-A5FB5859CE95}"/>
              </a:ext>
            </a:extLst>
          </p:cNvPr>
          <p:cNvSpPr>
            <a:spLocks noGrp="1"/>
          </p:cNvSpPr>
          <p:nvPr>
            <p:ph idx="1"/>
          </p:nvPr>
        </p:nvSpPr>
        <p:spPr>
          <a:xfrm>
            <a:off x="4134810" y="355242"/>
            <a:ext cx="7909553" cy="6167792"/>
          </a:xfrm>
        </p:spPr>
        <p:txBody>
          <a:bodyPr anchor="ctr">
            <a:normAutofit fontScale="62500" lnSpcReduction="20000"/>
          </a:bodyPr>
          <a:lstStyle/>
          <a:p>
            <a:pPr marL="0" indent="0">
              <a:buNone/>
            </a:pPr>
            <a:r>
              <a:rPr lang="en-US" sz="3000" dirty="0">
                <a:latin typeface="Times" pitchFamily="2" charset="0"/>
              </a:rPr>
              <a:t>---&gt; Define function: </a:t>
            </a:r>
            <a:r>
              <a:rPr lang="en-US" sz="3000" dirty="0" err="1">
                <a:latin typeface="Times" pitchFamily="2" charset="0"/>
              </a:rPr>
              <a:t>print_results_table</a:t>
            </a:r>
            <a:endParaRPr lang="en-US" sz="3000" dirty="0">
              <a:latin typeface="Times" pitchFamily="2" charset="0"/>
            </a:endParaRPr>
          </a:p>
          <a:p>
            <a:pPr marL="0" indent="0">
              <a:buNone/>
            </a:pPr>
            <a:r>
              <a:rPr lang="en-US" sz="3000" dirty="0">
                <a:latin typeface="Times" pitchFamily="2" charset="0"/>
              </a:rPr>
              <a:t>      </a:t>
            </a:r>
          </a:p>
          <a:p>
            <a:pPr marL="0" indent="0">
              <a:buNone/>
            </a:pPr>
            <a:r>
              <a:rPr lang="en-US" sz="3000" dirty="0">
                <a:latin typeface="Times" pitchFamily="2" charset="0"/>
              </a:rPr>
              <a:t>       ---&gt; Input: Results dictionary</a:t>
            </a:r>
          </a:p>
          <a:p>
            <a:pPr marL="0" indent="0">
              <a:buNone/>
            </a:pPr>
            <a:r>
              <a:rPr lang="en-US" sz="3000" dirty="0">
                <a:latin typeface="Times" pitchFamily="2" charset="0"/>
              </a:rPr>
              <a:t>            </a:t>
            </a:r>
          </a:p>
          <a:p>
            <a:pPr marL="0" indent="0">
              <a:buNone/>
            </a:pPr>
            <a:r>
              <a:rPr lang="en-US" sz="3000" dirty="0">
                <a:latin typeface="Times" pitchFamily="2" charset="0"/>
              </a:rPr>
              <a:t>              ---&gt; Print table headers for each result category</a:t>
            </a:r>
          </a:p>
          <a:p>
            <a:pPr marL="0" indent="0">
              <a:buNone/>
            </a:pPr>
            <a:r>
              <a:rPr lang="en-US" sz="3000" dirty="0">
                <a:latin typeface="Times" pitchFamily="2" charset="0"/>
              </a:rPr>
              <a:t>              ---&gt; Print a horizontal line to separate headers from data rows</a:t>
            </a:r>
          </a:p>
          <a:p>
            <a:pPr marL="0" indent="0">
              <a:buNone/>
            </a:pPr>
            <a:r>
              <a:rPr lang="en-US" sz="3000" dirty="0">
                <a:latin typeface="Times" pitchFamily="2" charset="0"/>
              </a:rPr>
              <a:t>              </a:t>
            </a:r>
          </a:p>
          <a:p>
            <a:pPr marL="0" indent="0">
              <a:buNone/>
            </a:pPr>
            <a:r>
              <a:rPr lang="en-US" sz="3000" dirty="0">
                <a:latin typeface="Times" pitchFamily="2" charset="0"/>
              </a:rPr>
              <a:t>       ---&gt; Loop through each starting value from 4 to 22</a:t>
            </a:r>
          </a:p>
          <a:p>
            <a:pPr marL="0" indent="0">
              <a:buNone/>
            </a:pPr>
            <a:r>
              <a:rPr lang="en-US" sz="3000" dirty="0">
                <a:latin typeface="Times" pitchFamily="2" charset="0"/>
              </a:rPr>
              <a:t>               </a:t>
            </a:r>
          </a:p>
          <a:p>
            <a:pPr marL="0" indent="0">
              <a:buNone/>
            </a:pPr>
            <a:r>
              <a:rPr lang="en-US" sz="3000" dirty="0">
                <a:latin typeface="Times" pitchFamily="2" charset="0"/>
              </a:rPr>
              <a:t>               ---&gt; Retrieve win, loss, and draw counts for hitting and standing for the current starting value</a:t>
            </a:r>
          </a:p>
          <a:p>
            <a:pPr marL="0" indent="0">
              <a:buNone/>
            </a:pPr>
            <a:r>
              <a:rPr lang="en-US" sz="3000" dirty="0">
                <a:latin typeface="Times" pitchFamily="2" charset="0"/>
              </a:rPr>
              <a:t>               ---&gt; Print the starting value followed by counts for hit wins, hit losses, hit draws, stand wins, stand losses, and stand draws in a formatted manner</a:t>
            </a:r>
          </a:p>
          <a:p>
            <a:pPr marL="0" indent="0">
              <a:buNone/>
            </a:pPr>
            <a:r>
              <a:rPr lang="en-US" sz="3000" dirty="0">
                <a:latin typeface="Times" pitchFamily="2" charset="0"/>
              </a:rPr>
              <a:t>               </a:t>
            </a:r>
          </a:p>
          <a:p>
            <a:pPr marL="0" indent="0">
              <a:buNone/>
            </a:pPr>
            <a:r>
              <a:rPr lang="en-US" sz="3000" dirty="0">
                <a:latin typeface="Times" pitchFamily="2" charset="0"/>
              </a:rPr>
              <a:t>---&gt; End function</a:t>
            </a:r>
          </a:p>
          <a:p>
            <a:pPr marL="0" indent="0">
              <a:buNone/>
            </a:pPr>
            <a:endParaRPr lang="en-US" sz="3000" dirty="0">
              <a:latin typeface="Times" pitchFamily="2" charset="0"/>
            </a:endParaRPr>
          </a:p>
          <a:p>
            <a:pPr marL="0" indent="0">
              <a:buNone/>
            </a:pPr>
            <a:r>
              <a:rPr lang="en-US" sz="3000" dirty="0">
                <a:latin typeface="Times" pitchFamily="2" charset="0"/>
              </a:rPr>
              <a:t>---&gt; Call function: </a:t>
            </a:r>
            <a:r>
              <a:rPr lang="en-US" sz="3000" dirty="0" err="1">
                <a:latin typeface="Times" pitchFamily="2" charset="0"/>
              </a:rPr>
              <a:t>print_results_table</a:t>
            </a:r>
            <a:endParaRPr lang="en-US" sz="3000" dirty="0">
              <a:latin typeface="Times" pitchFamily="2" charset="0"/>
            </a:endParaRPr>
          </a:p>
          <a:p>
            <a:pPr marL="0" indent="0">
              <a:buNone/>
            </a:pPr>
            <a:r>
              <a:rPr lang="en-US" sz="3000" dirty="0">
                <a:latin typeface="Times" pitchFamily="2" charset="0"/>
              </a:rPr>
              <a:t>        </a:t>
            </a:r>
          </a:p>
          <a:p>
            <a:pPr marL="0" indent="0">
              <a:buNone/>
            </a:pPr>
            <a:r>
              <a:rPr lang="en-US" sz="3000" dirty="0">
                <a:latin typeface="Times" pitchFamily="2" charset="0"/>
              </a:rPr>
              <a:t>        ---&gt; Pass results dictionary as input</a:t>
            </a:r>
          </a:p>
        </p:txBody>
      </p:sp>
    </p:spTree>
    <p:extLst>
      <p:ext uri="{BB962C8B-B14F-4D97-AF65-F5344CB8AC3E}">
        <p14:creationId xmlns:p14="http://schemas.microsoft.com/office/powerpoint/2010/main" val="1304186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D3D701-9B61-F1DF-16A6-212822A86006}"/>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Pseudocode</a:t>
            </a:r>
          </a:p>
        </p:txBody>
      </p:sp>
      <p:sp>
        <p:nvSpPr>
          <p:cNvPr id="3" name="Content Placeholder 2">
            <a:extLst>
              <a:ext uri="{FF2B5EF4-FFF2-40B4-BE49-F238E27FC236}">
                <a16:creationId xmlns:a16="http://schemas.microsoft.com/office/drawing/2014/main" id="{D3E46985-6C76-2ECC-E2DE-A8A87BC5CDDC}"/>
              </a:ext>
            </a:extLst>
          </p:cNvPr>
          <p:cNvSpPr>
            <a:spLocks noGrp="1"/>
          </p:cNvSpPr>
          <p:nvPr>
            <p:ph idx="1"/>
          </p:nvPr>
        </p:nvSpPr>
        <p:spPr>
          <a:xfrm>
            <a:off x="4367695" y="586855"/>
            <a:ext cx="7719530" cy="5485334"/>
          </a:xfrm>
        </p:spPr>
        <p:txBody>
          <a:bodyPr numCol="2" anchor="ctr">
            <a:normAutofit/>
          </a:bodyPr>
          <a:lstStyle/>
          <a:p>
            <a:pPr marL="0" indent="0">
              <a:buNone/>
            </a:pPr>
            <a:r>
              <a:rPr lang="en-US" sz="1200" dirty="0"/>
              <a:t>Define a function to simulate one round of blackjack:</a:t>
            </a:r>
          </a:p>
          <a:p>
            <a:pPr marL="0" indent="0">
              <a:buNone/>
            </a:pPr>
            <a:r>
              <a:rPr lang="en-US" sz="1200" dirty="0"/>
              <a:t>    Input: Starting value for player's hand</a:t>
            </a:r>
          </a:p>
          <a:p>
            <a:pPr marL="0" indent="0">
              <a:buNone/>
            </a:pPr>
            <a:r>
              <a:rPr lang="en-US" sz="1200" dirty="0"/>
              <a:t>    Output: Result of the round (win, lose, draw), updated player's hand</a:t>
            </a:r>
          </a:p>
          <a:p>
            <a:pPr marL="0" indent="0">
              <a:buNone/>
            </a:pPr>
            <a:endParaRPr lang="en-US" sz="1200" dirty="0"/>
          </a:p>
          <a:p>
            <a:pPr marL="0" indent="0">
              <a:buNone/>
            </a:pPr>
            <a:r>
              <a:rPr lang="en-US" sz="1200" dirty="0"/>
              <a:t>Define a function to calculate the value of a hand:</a:t>
            </a:r>
          </a:p>
          <a:p>
            <a:pPr marL="0" indent="0">
              <a:buNone/>
            </a:pPr>
            <a:r>
              <a:rPr lang="en-US" sz="1200" dirty="0"/>
              <a:t>    Input: List of cards in hand</a:t>
            </a:r>
          </a:p>
          <a:p>
            <a:pPr marL="0" indent="0">
              <a:buNone/>
            </a:pPr>
            <a:r>
              <a:rPr lang="en-US" sz="1200" dirty="0"/>
              <a:t>    Output: Total value of the hand</a:t>
            </a:r>
          </a:p>
          <a:p>
            <a:pPr marL="0" indent="0">
              <a:buNone/>
            </a:pPr>
            <a:endParaRPr lang="en-US" sz="1200" dirty="0"/>
          </a:p>
          <a:p>
            <a:pPr marL="0" indent="0">
              <a:buNone/>
            </a:pPr>
            <a:r>
              <a:rPr lang="en-US" sz="1200" dirty="0"/>
              <a:t>Define a function to simulate the dealer's turn:</a:t>
            </a:r>
          </a:p>
          <a:p>
            <a:pPr marL="0" indent="0">
              <a:buNone/>
            </a:pPr>
            <a:r>
              <a:rPr lang="en-US" sz="1200" dirty="0"/>
              <a:t>    Input: List of cards in dealer's hand</a:t>
            </a:r>
          </a:p>
          <a:p>
            <a:pPr marL="0" indent="0">
              <a:buNone/>
            </a:pPr>
            <a:r>
              <a:rPr lang="en-US" sz="1200" dirty="0"/>
              <a:t>    Output: Updated list of cards in dealer's hand</a:t>
            </a:r>
          </a:p>
          <a:p>
            <a:pPr marL="0" indent="0">
              <a:buNone/>
            </a:pPr>
            <a:endParaRPr lang="en-US" sz="1200" dirty="0"/>
          </a:p>
          <a:p>
            <a:pPr marL="0" indent="0">
              <a:buNone/>
            </a:pPr>
            <a:r>
              <a:rPr lang="en-US" sz="1200" dirty="0"/>
              <a:t>Define a function to simulate the player's turn:</a:t>
            </a:r>
          </a:p>
          <a:p>
            <a:pPr marL="0" indent="0">
              <a:buNone/>
            </a:pPr>
            <a:r>
              <a:rPr lang="en-US" sz="1200" dirty="0"/>
              <a:t>    Input: Starting value for player's hand</a:t>
            </a:r>
          </a:p>
          <a:p>
            <a:pPr marL="0" indent="0">
              <a:buNone/>
            </a:pPr>
            <a:r>
              <a:rPr lang="en-US" sz="1200" dirty="0"/>
              <a:t>    Output: Updated player's hand after simulating the turn</a:t>
            </a:r>
          </a:p>
          <a:p>
            <a:pPr marL="0" indent="0">
              <a:buNone/>
            </a:pPr>
            <a:endParaRPr lang="en-US" sz="1200" dirty="0"/>
          </a:p>
          <a:p>
            <a:pPr marL="0" indent="0">
              <a:buNone/>
            </a:pPr>
            <a:r>
              <a:rPr lang="en-US" sz="1200" dirty="0"/>
              <a:t>Define variables to keep track of win, loss, and draw counts for hitting and standing for each starting value</a:t>
            </a:r>
          </a:p>
          <a:p>
            <a:pPr marL="0" indent="0">
              <a:buNone/>
            </a:pPr>
            <a:endParaRPr lang="en-US" sz="1200" dirty="0"/>
          </a:p>
          <a:p>
            <a:pPr marL="0" indent="0">
              <a:buNone/>
            </a:pPr>
            <a:r>
              <a:rPr lang="en-US" sz="1200" dirty="0"/>
              <a:t>Loop for each starting value from 4 to 22:</a:t>
            </a:r>
          </a:p>
          <a:p>
            <a:pPr marL="0" indent="0">
              <a:buNone/>
            </a:pPr>
            <a:r>
              <a:rPr lang="en-US" sz="1200" dirty="0"/>
              <a:t>    Initialize win, loss, and draw counts for hitting and standing to 0</a:t>
            </a:r>
          </a:p>
          <a:p>
            <a:pPr marL="0" indent="0">
              <a:buNone/>
            </a:pPr>
            <a:r>
              <a:rPr lang="en-US" sz="1200" dirty="0"/>
              <a:t>    Loop for 100,000 rounds:</a:t>
            </a:r>
          </a:p>
          <a:p>
            <a:pPr marL="0" indent="0">
              <a:buNone/>
            </a:pPr>
            <a:r>
              <a:rPr lang="en-US" sz="1200" dirty="0"/>
              <a:t>        Generate a random starting value for the player's hand</a:t>
            </a:r>
          </a:p>
          <a:p>
            <a:pPr marL="0" indent="0">
              <a:buNone/>
            </a:pPr>
            <a:r>
              <a:rPr lang="en-US" sz="1200" dirty="0"/>
              <a:t>        Simulate the player's turn using the </a:t>
            </a:r>
            <a:r>
              <a:rPr lang="en-US" sz="1200" dirty="0" err="1"/>
              <a:t>simulate_player_turn</a:t>
            </a:r>
            <a:r>
              <a:rPr lang="en-US" sz="1200" dirty="0"/>
              <a:t>() function</a:t>
            </a:r>
          </a:p>
          <a:p>
            <a:pPr marL="0" indent="0">
              <a:buNone/>
            </a:pPr>
            <a:r>
              <a:rPr lang="en-US" sz="1200" dirty="0"/>
              <a:t>        Simulate the dealer's turn using the </a:t>
            </a:r>
            <a:r>
              <a:rPr lang="en-US" sz="1200" dirty="0" err="1"/>
              <a:t>dealer_turn</a:t>
            </a:r>
            <a:r>
              <a:rPr lang="en-US" sz="1200" dirty="0"/>
              <a:t>() function</a:t>
            </a:r>
          </a:p>
          <a:p>
            <a:pPr marL="0" indent="0">
              <a:buNone/>
            </a:pPr>
            <a:r>
              <a:rPr lang="en-US" sz="1200" dirty="0"/>
              <a:t>        Determine the winner of the round</a:t>
            </a:r>
          </a:p>
          <a:p>
            <a:pPr marL="0" indent="0">
              <a:buNone/>
            </a:pPr>
            <a:r>
              <a:rPr lang="en-US" sz="1200" dirty="0"/>
              <a:t>        Update win, loss, and draw counts accordingly</a:t>
            </a:r>
          </a:p>
          <a:p>
            <a:pPr marL="0" indent="0">
              <a:buNone/>
            </a:pPr>
            <a:endParaRPr lang="en-US" sz="1200" dirty="0"/>
          </a:p>
          <a:p>
            <a:pPr marL="0" indent="0">
              <a:buNone/>
            </a:pPr>
            <a:r>
              <a:rPr lang="en-US" sz="1200" dirty="0"/>
              <a:t>    Print results for the current starting value:</a:t>
            </a:r>
          </a:p>
          <a:p>
            <a:pPr marL="0" indent="0">
              <a:buNone/>
            </a:pPr>
            <a:r>
              <a:rPr lang="en-US" sz="1200" dirty="0"/>
              <a:t>        Print starting value</a:t>
            </a:r>
          </a:p>
          <a:p>
            <a:pPr marL="0" indent="0">
              <a:buNone/>
            </a:pPr>
            <a:r>
              <a:rPr lang="en-US" sz="1200" dirty="0"/>
              <a:t>        Print win, loss, and draw counts for hitting</a:t>
            </a:r>
          </a:p>
          <a:p>
            <a:pPr marL="0" indent="0">
              <a:buNone/>
            </a:pPr>
            <a:r>
              <a:rPr lang="en-US" sz="1200" dirty="0"/>
              <a:t>        Print win, loss, and draw counts for standing</a:t>
            </a:r>
          </a:p>
          <a:p>
            <a:endParaRPr lang="en-US" sz="1100" dirty="0"/>
          </a:p>
        </p:txBody>
      </p:sp>
    </p:spTree>
    <p:extLst>
      <p:ext uri="{BB962C8B-B14F-4D97-AF65-F5344CB8AC3E}">
        <p14:creationId xmlns:p14="http://schemas.microsoft.com/office/powerpoint/2010/main" val="2307404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3A0AE-9E42-E048-B032-878B041BE7A6}"/>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Full Python Code for Blackjack Simulator</a:t>
            </a:r>
          </a:p>
        </p:txBody>
      </p:sp>
      <p:sp>
        <p:nvSpPr>
          <p:cNvPr id="3" name="Content Placeholder 2">
            <a:extLst>
              <a:ext uri="{FF2B5EF4-FFF2-40B4-BE49-F238E27FC236}">
                <a16:creationId xmlns:a16="http://schemas.microsoft.com/office/drawing/2014/main" id="{04694262-2B64-D234-3888-BEF5CA074141}"/>
              </a:ext>
            </a:extLst>
          </p:cNvPr>
          <p:cNvSpPr>
            <a:spLocks noGrp="1"/>
          </p:cNvSpPr>
          <p:nvPr>
            <p:ph idx="1"/>
          </p:nvPr>
        </p:nvSpPr>
        <p:spPr>
          <a:xfrm>
            <a:off x="4329190" y="387396"/>
            <a:ext cx="7568390" cy="6083205"/>
          </a:xfrm>
        </p:spPr>
        <p:txBody>
          <a:bodyPr numCol="3" anchor="ctr">
            <a:normAutofit fontScale="85000" lnSpcReduction="20000"/>
          </a:bodyPr>
          <a:lstStyle/>
          <a:p>
            <a:pPr marL="0" indent="0">
              <a:buNone/>
            </a:pPr>
            <a:r>
              <a:rPr lang="en-US" sz="1300" dirty="0">
                <a:solidFill>
                  <a:srgbClr val="0033B3"/>
                </a:solidFill>
                <a:effectLst/>
              </a:rPr>
              <a:t>import </a:t>
            </a:r>
            <a:r>
              <a:rPr lang="en-US" sz="1300" dirty="0">
                <a:solidFill>
                  <a:srgbClr val="080808"/>
                </a:solidFill>
                <a:effectLst/>
              </a:rPr>
              <a:t>random</a:t>
            </a:r>
            <a:br>
              <a:rPr lang="en-US" sz="1300" dirty="0">
                <a:solidFill>
                  <a:srgbClr val="080808"/>
                </a:solidFill>
                <a:effectLst/>
              </a:rPr>
            </a:br>
            <a:br>
              <a:rPr lang="en-US" sz="1300" dirty="0">
                <a:solidFill>
                  <a:srgbClr val="080808"/>
                </a:solidFill>
                <a:effectLst/>
              </a:rPr>
            </a:br>
            <a:r>
              <a:rPr lang="en-US" sz="1300" i="1" dirty="0">
                <a:solidFill>
                  <a:srgbClr val="8C8C8C"/>
                </a:solidFill>
                <a:effectLst/>
              </a:rPr>
              <a:t># Function to calculate the value of a hand</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calculate_hand_value</a:t>
            </a:r>
            <a:r>
              <a:rPr lang="en-US" sz="1300" dirty="0">
                <a:solidFill>
                  <a:srgbClr val="080808"/>
                </a:solidFill>
                <a:effectLst/>
              </a:rPr>
              <a:t>(</a:t>
            </a:r>
            <a:r>
              <a:rPr lang="en-US" sz="1300" dirty="0">
                <a:solidFill>
                  <a:srgbClr val="000000"/>
                </a:solidFill>
                <a:effectLst/>
              </a:rPr>
              <a:t>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total_value</a:t>
            </a:r>
            <a:r>
              <a:rPr lang="en-US" sz="1300" dirty="0">
                <a:solidFill>
                  <a:srgbClr val="000000"/>
                </a:solidFill>
                <a:effectLst/>
              </a:rPr>
              <a:t> </a:t>
            </a:r>
            <a:r>
              <a:rPr lang="en-US" sz="1300" dirty="0">
                <a:solidFill>
                  <a:srgbClr val="080808"/>
                </a:solidFill>
                <a:effectLst/>
              </a:rPr>
              <a:t>= </a:t>
            </a:r>
            <a:r>
              <a:rPr lang="en-US" sz="1300" dirty="0">
                <a:solidFill>
                  <a:srgbClr val="000080"/>
                </a:solidFill>
                <a:effectLst/>
              </a:rPr>
              <a:t>sum</a:t>
            </a:r>
            <a:r>
              <a:rPr lang="en-US" sz="1300" dirty="0">
                <a:solidFill>
                  <a:srgbClr val="080808"/>
                </a:solidFill>
                <a:effectLst/>
              </a:rPr>
              <a:t>(</a:t>
            </a:r>
            <a:r>
              <a:rPr lang="en-US" sz="1300" dirty="0">
                <a:solidFill>
                  <a:srgbClr val="000000"/>
                </a:solidFill>
                <a:effectLst/>
              </a:rPr>
              <a:t>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num_aces</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hand</a:t>
            </a:r>
            <a:r>
              <a:rPr lang="en-US" sz="1300" dirty="0" err="1">
                <a:solidFill>
                  <a:srgbClr val="080808"/>
                </a:solidFill>
                <a:effectLst/>
              </a:rPr>
              <a:t>.count</a:t>
            </a:r>
            <a:r>
              <a:rPr lang="en-US" sz="1300" dirty="0">
                <a:solidFill>
                  <a:srgbClr val="080808"/>
                </a:solidFill>
                <a:effectLst/>
              </a:rPr>
              <a:t>(</a:t>
            </a:r>
            <a:r>
              <a:rPr lang="en-US" sz="1300" dirty="0">
                <a:solidFill>
                  <a:srgbClr val="1750EB"/>
                </a:solidFill>
                <a:effectLst/>
              </a:rPr>
              <a:t>11</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while </a:t>
            </a:r>
            <a:r>
              <a:rPr lang="en-US" sz="1300" dirty="0" err="1">
                <a:solidFill>
                  <a:srgbClr val="000000"/>
                </a:solidFill>
                <a:effectLst/>
              </a:rPr>
              <a:t>total_value</a:t>
            </a:r>
            <a:r>
              <a:rPr lang="en-US" sz="1300" dirty="0">
                <a:solidFill>
                  <a:srgbClr val="000000"/>
                </a:solidFill>
                <a:effectLst/>
              </a:rPr>
              <a:t> </a:t>
            </a:r>
            <a:r>
              <a:rPr lang="en-US" sz="1300" dirty="0">
                <a:solidFill>
                  <a:srgbClr val="080808"/>
                </a:solidFill>
                <a:effectLst/>
              </a:rPr>
              <a:t>&gt; </a:t>
            </a:r>
            <a:r>
              <a:rPr lang="en-US" sz="1300" dirty="0">
                <a:solidFill>
                  <a:srgbClr val="1750EB"/>
                </a:solidFill>
                <a:effectLst/>
              </a:rPr>
              <a:t>21 </a:t>
            </a:r>
            <a:r>
              <a:rPr lang="en-US" sz="1300" dirty="0">
                <a:solidFill>
                  <a:srgbClr val="0033B3"/>
                </a:solidFill>
                <a:effectLst/>
              </a:rPr>
              <a:t>and </a:t>
            </a:r>
            <a:r>
              <a:rPr lang="en-US" sz="1300" dirty="0" err="1">
                <a:solidFill>
                  <a:srgbClr val="000000"/>
                </a:solidFill>
                <a:effectLst/>
              </a:rPr>
              <a:t>num_aces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total_value</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10</a:t>
            </a:r>
            <a:br>
              <a:rPr lang="en-US" sz="1300" dirty="0">
                <a:solidFill>
                  <a:srgbClr val="1750EB"/>
                </a:solidFill>
                <a:effectLst/>
              </a:rPr>
            </a:br>
            <a:r>
              <a:rPr lang="en-US" sz="1300" dirty="0">
                <a:solidFill>
                  <a:srgbClr val="1750EB"/>
                </a:solidFill>
                <a:effectLst/>
              </a:rPr>
              <a:t>        </a:t>
            </a:r>
            <a:r>
              <a:rPr lang="en-US" sz="1300" dirty="0" err="1">
                <a:solidFill>
                  <a:srgbClr val="000000"/>
                </a:solidFill>
                <a:effectLst/>
              </a:rPr>
              <a:t>num_aces</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r>
              <a:rPr lang="en-US" sz="1300" dirty="0">
                <a:solidFill>
                  <a:srgbClr val="1750EB"/>
                </a:solidFill>
                <a:effectLst/>
              </a:rPr>
              <a:t>    </a:t>
            </a:r>
            <a:r>
              <a:rPr lang="en-US" sz="1300" dirty="0">
                <a:solidFill>
                  <a:srgbClr val="0033B3"/>
                </a:solidFill>
                <a:effectLst/>
              </a:rPr>
              <a:t>return </a:t>
            </a:r>
            <a:r>
              <a:rPr lang="en-US" sz="1300" dirty="0" err="1">
                <a:solidFill>
                  <a:srgbClr val="000000"/>
                </a:solidFill>
                <a:effectLst/>
              </a:rPr>
              <a:t>total_value</a:t>
            </a:r>
            <a:br>
              <a:rPr lang="en-US" sz="1300" dirty="0">
                <a:solidFill>
                  <a:srgbClr val="000000"/>
                </a:solidFill>
                <a:effectLst/>
              </a:rPr>
            </a:br>
            <a:br>
              <a:rPr lang="en-US" sz="1300" dirty="0">
                <a:solidFill>
                  <a:srgbClr val="000000"/>
                </a:solidFill>
                <a:effectLst/>
              </a:rPr>
            </a:br>
            <a:br>
              <a:rPr lang="en-US" sz="1300" dirty="0">
                <a:solidFill>
                  <a:srgbClr val="000000"/>
                </a:solidFill>
                <a:effectLst/>
              </a:rPr>
            </a:br>
            <a:r>
              <a:rPr lang="en-US" sz="1300" i="1" dirty="0">
                <a:solidFill>
                  <a:srgbClr val="8C8C8C"/>
                </a:solidFill>
                <a:effectLst/>
              </a:rPr>
              <a:t># Function to simulate the dealer's turn</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dealer_turn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dealer_hand</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random.randint</a:t>
            </a:r>
            <a:r>
              <a:rPr lang="en-US" sz="1300" dirty="0">
                <a:solidFill>
                  <a:srgbClr val="080808"/>
                </a:solidFill>
                <a:effectLst/>
              </a:rPr>
              <a:t>(</a:t>
            </a:r>
            <a:r>
              <a:rPr lang="en-US" sz="1300" dirty="0">
                <a:solidFill>
                  <a:srgbClr val="1750EB"/>
                </a:solidFill>
                <a:effectLst/>
              </a:rPr>
              <a:t>1</a:t>
            </a:r>
            <a:r>
              <a:rPr lang="en-US" sz="1300" dirty="0">
                <a:solidFill>
                  <a:srgbClr val="080808"/>
                </a:solidFill>
                <a:effectLst/>
              </a:rPr>
              <a:t>, </a:t>
            </a:r>
            <a:r>
              <a:rPr lang="en-US" sz="1300" dirty="0">
                <a:solidFill>
                  <a:srgbClr val="1750EB"/>
                </a:solidFill>
                <a:effectLst/>
              </a:rPr>
              <a:t>10</a:t>
            </a:r>
            <a:r>
              <a:rPr lang="en-US" sz="1300" dirty="0">
                <a:solidFill>
                  <a:srgbClr val="080808"/>
                </a:solidFill>
                <a:effectLst/>
              </a:rPr>
              <a:t>) </a:t>
            </a:r>
            <a:r>
              <a:rPr lang="en-US" sz="1300" dirty="0">
                <a:solidFill>
                  <a:srgbClr val="0033B3"/>
                </a:solidFill>
                <a:effectLst/>
              </a:rPr>
              <a:t>for </a:t>
            </a:r>
            <a:r>
              <a:rPr lang="en-US" sz="1300" dirty="0">
                <a:solidFill>
                  <a:srgbClr val="080808"/>
                </a:solidFill>
                <a:effectLst/>
              </a:rPr>
              <a:t>_ </a:t>
            </a:r>
            <a:r>
              <a:rPr lang="en-US" sz="1300" dirty="0">
                <a:solidFill>
                  <a:srgbClr val="0033B3"/>
                </a:solidFill>
                <a:effectLst/>
              </a:rPr>
              <a:t>in </a:t>
            </a:r>
            <a:r>
              <a:rPr lang="en-US" sz="1300" dirty="0">
                <a:solidFill>
                  <a:srgbClr val="000080"/>
                </a:solidFill>
                <a:effectLst/>
              </a:rPr>
              <a:t>range</a:t>
            </a:r>
            <a:r>
              <a:rPr lang="en-US" sz="1300" dirty="0">
                <a:solidFill>
                  <a:srgbClr val="080808"/>
                </a:solidFill>
                <a:effectLst/>
              </a:rPr>
              <a:t>(</a:t>
            </a:r>
            <a:r>
              <a:rPr lang="en-US" sz="1300" dirty="0" err="1">
                <a:solidFill>
                  <a:srgbClr val="080808"/>
                </a:solidFill>
                <a:effectLst/>
              </a:rPr>
              <a:t>random.randint</a:t>
            </a:r>
            <a:r>
              <a:rPr lang="en-US" sz="1300" dirty="0">
                <a:solidFill>
                  <a:srgbClr val="080808"/>
                </a:solidFill>
                <a:effectLst/>
              </a:rPr>
              <a:t>(</a:t>
            </a:r>
            <a:r>
              <a:rPr lang="en-US" sz="1300" dirty="0">
                <a:solidFill>
                  <a:srgbClr val="1750EB"/>
                </a:solidFill>
                <a:effectLst/>
              </a:rPr>
              <a:t>4</a:t>
            </a:r>
            <a:r>
              <a:rPr lang="en-US" sz="1300" dirty="0">
                <a:solidFill>
                  <a:srgbClr val="080808"/>
                </a:solidFill>
                <a:effectLst/>
              </a:rPr>
              <a:t>, </a:t>
            </a:r>
            <a:r>
              <a:rPr lang="en-US" sz="1300" dirty="0">
                <a:solidFill>
                  <a:srgbClr val="1750EB"/>
                </a:solidFill>
                <a:effectLst/>
              </a:rPr>
              <a:t>22</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while </a:t>
            </a:r>
            <a:r>
              <a:rPr lang="en-US" sz="1300" dirty="0" err="1">
                <a:solidFill>
                  <a:srgbClr val="080808"/>
                </a:solidFill>
                <a:effectLst/>
              </a:rPr>
              <a:t>calculate_hand_value</a:t>
            </a:r>
            <a:r>
              <a:rPr lang="en-US" sz="1300" dirty="0">
                <a:solidFill>
                  <a:srgbClr val="080808"/>
                </a:solidFill>
                <a:effectLst/>
              </a:rPr>
              <a:t>(</a:t>
            </a:r>
            <a:r>
              <a:rPr lang="en-US" sz="1300" dirty="0" err="1">
                <a:solidFill>
                  <a:srgbClr val="000000"/>
                </a:solidFill>
                <a:effectLst/>
              </a:rPr>
              <a:t>dealer_hand</a:t>
            </a:r>
            <a:r>
              <a:rPr lang="en-US" sz="1300" dirty="0">
                <a:solidFill>
                  <a:srgbClr val="080808"/>
                </a:solidFill>
                <a:effectLst/>
              </a:rPr>
              <a:t>) &lt; </a:t>
            </a:r>
            <a:r>
              <a:rPr lang="en-US" sz="1300" dirty="0">
                <a:solidFill>
                  <a:srgbClr val="1750EB"/>
                </a:solidFill>
                <a:effectLst/>
              </a:rPr>
              <a:t>17</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dealer_hand</a:t>
            </a:r>
            <a:r>
              <a:rPr lang="en-US" sz="1300" dirty="0" err="1">
                <a:solidFill>
                  <a:srgbClr val="080808"/>
                </a:solidFill>
                <a:effectLst/>
              </a:rPr>
              <a:t>.append</a:t>
            </a:r>
            <a:r>
              <a:rPr lang="en-US" sz="1300" dirty="0">
                <a:solidFill>
                  <a:srgbClr val="080808"/>
                </a:solidFill>
                <a:effectLst/>
              </a:rPr>
              <a:t>(</a:t>
            </a:r>
            <a:r>
              <a:rPr lang="en-US" sz="1300" dirty="0" err="1">
                <a:solidFill>
                  <a:srgbClr val="080808"/>
                </a:solidFill>
                <a:effectLst/>
              </a:rPr>
              <a:t>random.randint</a:t>
            </a:r>
            <a:r>
              <a:rPr lang="en-US" sz="1300" dirty="0">
                <a:solidFill>
                  <a:srgbClr val="080808"/>
                </a:solidFill>
                <a:effectLst/>
              </a:rPr>
              <a:t>(</a:t>
            </a:r>
            <a:r>
              <a:rPr lang="en-US" sz="1300" dirty="0">
                <a:solidFill>
                  <a:srgbClr val="1750EB"/>
                </a:solidFill>
                <a:effectLst/>
              </a:rPr>
              <a:t>1</a:t>
            </a:r>
            <a:r>
              <a:rPr lang="en-US" sz="1300" dirty="0">
                <a:solidFill>
                  <a:srgbClr val="080808"/>
                </a:solidFill>
                <a:effectLst/>
              </a:rPr>
              <a:t>, </a:t>
            </a:r>
            <a:r>
              <a:rPr lang="en-US" sz="1300" dirty="0">
                <a:solidFill>
                  <a:srgbClr val="1750EB"/>
                </a:solidFill>
                <a:effectLst/>
              </a:rPr>
              <a:t>10</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err="1">
                <a:solidFill>
                  <a:srgbClr val="000000"/>
                </a:solidFill>
                <a:effectLst/>
              </a:rPr>
              <a:t>dealer_hand</a:t>
            </a:r>
            <a:br>
              <a:rPr lang="en-US" sz="1300" dirty="0">
                <a:solidFill>
                  <a:srgbClr val="000000"/>
                </a:solidFill>
                <a:effectLst/>
              </a:rPr>
            </a:br>
            <a:br>
              <a:rPr lang="en-US" sz="1300" dirty="0">
                <a:solidFill>
                  <a:srgbClr val="000000"/>
                </a:solidFill>
                <a:effectLst/>
              </a:rPr>
            </a:br>
            <a:br>
              <a:rPr lang="en-US" sz="1300" dirty="0">
                <a:solidFill>
                  <a:srgbClr val="000000"/>
                </a:solidFill>
                <a:effectLst/>
              </a:rPr>
            </a:br>
            <a:r>
              <a:rPr lang="en-US" sz="1300" i="1" dirty="0">
                <a:solidFill>
                  <a:srgbClr val="8C8C8C"/>
                </a:solidFill>
                <a:effectLst/>
              </a:rPr>
              <a:t># Function to simulate the player's turn</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simulate_player_turn</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player_hand</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random.randint</a:t>
            </a:r>
            <a:r>
              <a:rPr lang="en-US" sz="1300" dirty="0">
                <a:solidFill>
                  <a:srgbClr val="080808"/>
                </a:solidFill>
                <a:effectLst/>
              </a:rPr>
              <a:t>(</a:t>
            </a:r>
            <a:r>
              <a:rPr lang="en-US" sz="1300" dirty="0">
                <a:solidFill>
                  <a:srgbClr val="1750EB"/>
                </a:solidFill>
                <a:effectLst/>
              </a:rPr>
              <a:t>1</a:t>
            </a:r>
            <a:r>
              <a:rPr lang="en-US" sz="1300" dirty="0">
                <a:solidFill>
                  <a:srgbClr val="080808"/>
                </a:solidFill>
                <a:effectLst/>
              </a:rPr>
              <a:t>, </a:t>
            </a:r>
            <a:r>
              <a:rPr lang="en-US" sz="1300" dirty="0">
                <a:solidFill>
                  <a:srgbClr val="1750EB"/>
                </a:solidFill>
                <a:effectLst/>
              </a:rPr>
              <a:t>10</a:t>
            </a:r>
            <a:r>
              <a:rPr lang="en-US" sz="1300" dirty="0">
                <a:solidFill>
                  <a:srgbClr val="080808"/>
                </a:solidFill>
                <a:effectLst/>
              </a:rPr>
              <a:t>) </a:t>
            </a:r>
            <a:r>
              <a:rPr lang="en-US" sz="1300" dirty="0">
                <a:solidFill>
                  <a:srgbClr val="0033B3"/>
                </a:solidFill>
                <a:effectLst/>
              </a:rPr>
              <a:t>for </a:t>
            </a:r>
            <a:r>
              <a:rPr lang="en-US" sz="1300" dirty="0">
                <a:solidFill>
                  <a:srgbClr val="080808"/>
                </a:solidFill>
                <a:effectLst/>
              </a:rPr>
              <a:t>_ </a:t>
            </a:r>
            <a:r>
              <a:rPr lang="en-US" sz="1300" dirty="0">
                <a:solidFill>
                  <a:srgbClr val="0033B3"/>
                </a:solidFill>
                <a:effectLst/>
              </a:rPr>
              <a:t>in </a:t>
            </a:r>
            <a:r>
              <a:rPr lang="en-US" sz="1300" dirty="0">
                <a:solidFill>
                  <a:srgbClr val="000080"/>
                </a:solidFill>
                <a:effectLst/>
              </a:rPr>
              <a:t>range</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while </a:t>
            </a:r>
            <a:r>
              <a:rPr lang="en-US" sz="1300" dirty="0" err="1">
                <a:solidFill>
                  <a:srgbClr val="080808"/>
                </a:solidFill>
                <a:effectLst/>
              </a:rPr>
              <a:t>calculate_hand_value</a:t>
            </a:r>
            <a:r>
              <a:rPr lang="en-US" sz="1300" dirty="0">
                <a:solidFill>
                  <a:srgbClr val="080808"/>
                </a:solidFill>
                <a:effectLst/>
              </a:rPr>
              <a:t>(</a:t>
            </a:r>
            <a:r>
              <a:rPr lang="en-US" sz="1300" dirty="0" err="1">
                <a:solidFill>
                  <a:srgbClr val="000000"/>
                </a:solidFill>
                <a:effectLst/>
              </a:rPr>
              <a:t>player_hand</a:t>
            </a:r>
            <a:r>
              <a:rPr lang="en-US" sz="1300" dirty="0">
                <a:solidFill>
                  <a:srgbClr val="080808"/>
                </a:solidFill>
                <a:effectLst/>
              </a:rPr>
              <a:t>) &lt;= </a:t>
            </a:r>
            <a:r>
              <a:rPr lang="en-US" sz="1300" dirty="0">
                <a:solidFill>
                  <a:srgbClr val="1750EB"/>
                </a:solidFill>
                <a:effectLst/>
              </a:rPr>
              <a:t>21</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0000"/>
                </a:solidFill>
                <a:effectLst/>
              </a:rPr>
              <a:t>choice </a:t>
            </a:r>
            <a:r>
              <a:rPr lang="en-US" sz="1300" dirty="0">
                <a:solidFill>
                  <a:srgbClr val="080808"/>
                </a:solidFill>
                <a:effectLst/>
              </a:rPr>
              <a:t>= </a:t>
            </a:r>
            <a:r>
              <a:rPr lang="en-US" sz="1300" dirty="0" err="1">
                <a:solidFill>
                  <a:srgbClr val="080808"/>
                </a:solidFill>
                <a:effectLst/>
              </a:rPr>
              <a:t>random.choice</a:t>
            </a:r>
            <a:r>
              <a:rPr lang="en-US" sz="1300" dirty="0">
                <a:solidFill>
                  <a:srgbClr val="080808"/>
                </a:solidFill>
                <a:effectLst/>
              </a:rPr>
              <a:t>([</a:t>
            </a:r>
            <a:r>
              <a:rPr lang="en-US" sz="1300" dirty="0">
                <a:solidFill>
                  <a:srgbClr val="067D17"/>
                </a:solidFill>
                <a:effectLst/>
              </a:rPr>
              <a:t>'hit'</a:t>
            </a:r>
            <a:r>
              <a:rPr lang="en-US" sz="1300" dirty="0">
                <a:solidFill>
                  <a:srgbClr val="080808"/>
                </a:solidFill>
                <a:effectLst/>
              </a:rPr>
              <a:t>, </a:t>
            </a:r>
            <a:r>
              <a:rPr lang="en-US" sz="1300" dirty="0">
                <a:solidFill>
                  <a:srgbClr val="067D17"/>
                </a:solidFill>
                <a:effectLst/>
              </a:rPr>
              <a:t>'stand'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if </a:t>
            </a:r>
            <a:r>
              <a:rPr lang="en-US" sz="1300" dirty="0">
                <a:solidFill>
                  <a:srgbClr val="000000"/>
                </a:solidFill>
                <a:effectLst/>
              </a:rPr>
              <a:t>choice </a:t>
            </a:r>
            <a:r>
              <a:rPr lang="en-US" sz="1300" dirty="0">
                <a:solidFill>
                  <a:srgbClr val="080808"/>
                </a:solidFill>
                <a:effectLst/>
              </a:rPr>
              <a:t>== </a:t>
            </a:r>
            <a:r>
              <a:rPr lang="en-US" sz="1300" dirty="0">
                <a:solidFill>
                  <a:srgbClr val="067D17"/>
                </a:solidFill>
                <a:effectLst/>
              </a:rPr>
              <a:t>'hit'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player_hand</a:t>
            </a:r>
            <a:r>
              <a:rPr lang="en-US" sz="1300" dirty="0" err="1">
                <a:solidFill>
                  <a:srgbClr val="080808"/>
                </a:solidFill>
                <a:effectLst/>
              </a:rPr>
              <a:t>.append</a:t>
            </a:r>
            <a:r>
              <a:rPr lang="en-US" sz="1300" dirty="0">
                <a:solidFill>
                  <a:srgbClr val="080808"/>
                </a:solidFill>
                <a:effectLst/>
              </a:rPr>
              <a:t>(</a:t>
            </a:r>
            <a:r>
              <a:rPr lang="en-US" sz="1300" dirty="0" err="1">
                <a:solidFill>
                  <a:srgbClr val="080808"/>
                </a:solidFill>
                <a:effectLst/>
              </a:rPr>
              <a:t>random.randint</a:t>
            </a:r>
            <a:r>
              <a:rPr lang="en-US" sz="1300" dirty="0">
                <a:solidFill>
                  <a:srgbClr val="080808"/>
                </a:solidFill>
                <a:effectLst/>
              </a:rPr>
              <a:t>(</a:t>
            </a:r>
            <a:r>
              <a:rPr lang="en-US" sz="1300" dirty="0">
                <a:solidFill>
                  <a:srgbClr val="1750EB"/>
                </a:solidFill>
                <a:effectLst/>
              </a:rPr>
              <a:t>1</a:t>
            </a:r>
            <a:r>
              <a:rPr lang="en-US" sz="1300" dirty="0">
                <a:solidFill>
                  <a:srgbClr val="080808"/>
                </a:solidFill>
                <a:effectLst/>
              </a:rPr>
              <a:t>, </a:t>
            </a:r>
            <a:r>
              <a:rPr lang="en-US" sz="1300" dirty="0">
                <a:solidFill>
                  <a:srgbClr val="1750EB"/>
                </a:solidFill>
                <a:effectLst/>
              </a:rPr>
              <a:t>10</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else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break</a:t>
            </a:r>
            <a:br>
              <a:rPr lang="en-US" sz="1300" dirty="0">
                <a:solidFill>
                  <a:srgbClr val="0033B3"/>
                </a:solidFill>
                <a:effectLst/>
              </a:rPr>
            </a:br>
            <a:r>
              <a:rPr lang="en-US" sz="1300" dirty="0">
                <a:solidFill>
                  <a:srgbClr val="0033B3"/>
                </a:solidFill>
                <a:effectLst/>
              </a:rPr>
              <a:t>    return </a:t>
            </a:r>
            <a:r>
              <a:rPr lang="en-US" sz="1300" dirty="0" err="1">
                <a:solidFill>
                  <a:srgbClr val="000000"/>
                </a:solidFill>
                <a:effectLst/>
              </a:rPr>
              <a:t>player_hand</a:t>
            </a:r>
            <a:br>
              <a:rPr lang="en-US" sz="1300" dirty="0">
                <a:solidFill>
                  <a:srgbClr val="000000"/>
                </a:solidFill>
                <a:effectLst/>
              </a:rPr>
            </a:br>
            <a:br>
              <a:rPr lang="en-US" sz="1300" dirty="0">
                <a:solidFill>
                  <a:srgbClr val="000000"/>
                </a:solidFill>
                <a:effectLst/>
              </a:rPr>
            </a:br>
            <a:br>
              <a:rPr lang="en-US" sz="1300" dirty="0">
                <a:solidFill>
                  <a:srgbClr val="000000"/>
                </a:solidFill>
                <a:effectLst/>
              </a:rPr>
            </a:br>
            <a:r>
              <a:rPr lang="en-US" sz="1300" i="1" dirty="0">
                <a:solidFill>
                  <a:srgbClr val="8C8C8C"/>
                </a:solidFill>
                <a:effectLst/>
              </a:rPr>
              <a:t># Function to determine the winner of the round</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determine_winner</a:t>
            </a:r>
            <a:r>
              <a:rPr lang="en-US" sz="1300" dirty="0">
                <a:solidFill>
                  <a:srgbClr val="080808"/>
                </a:solidFill>
                <a:effectLst/>
              </a:rPr>
              <a:t>(</a:t>
            </a:r>
            <a:r>
              <a:rPr lang="en-US" sz="1300" dirty="0" err="1">
                <a:solidFill>
                  <a:srgbClr val="000000"/>
                </a:solidFill>
                <a:effectLst/>
              </a:rPr>
              <a:t>player_hand</a:t>
            </a:r>
            <a:r>
              <a:rPr lang="en-US" sz="1300" dirty="0">
                <a:solidFill>
                  <a:srgbClr val="080808"/>
                </a:solidFill>
                <a:effectLst/>
              </a:rPr>
              <a:t>, </a:t>
            </a:r>
            <a:r>
              <a:rPr lang="en-US" sz="1300" dirty="0" err="1">
                <a:solidFill>
                  <a:srgbClr val="000000"/>
                </a:solidFill>
                <a:effectLst/>
              </a:rPr>
              <a:t>dealer_hand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player_value</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calculate_hand_value</a:t>
            </a:r>
            <a:r>
              <a:rPr lang="en-US" sz="1300" dirty="0">
                <a:solidFill>
                  <a:srgbClr val="080808"/>
                </a:solidFill>
                <a:effectLst/>
              </a:rPr>
              <a:t>(</a:t>
            </a:r>
            <a:r>
              <a:rPr lang="en-US" sz="1300" dirty="0" err="1">
                <a:solidFill>
                  <a:srgbClr val="000000"/>
                </a:solidFill>
                <a:effectLst/>
              </a:rPr>
              <a:t>player_hand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dealer_value</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calculate_hand_value</a:t>
            </a:r>
            <a:r>
              <a:rPr lang="en-US" sz="1300" dirty="0">
                <a:solidFill>
                  <a:srgbClr val="080808"/>
                </a:solidFill>
                <a:effectLst/>
              </a:rPr>
              <a:t>(</a:t>
            </a:r>
            <a:r>
              <a:rPr lang="en-US" sz="1300" dirty="0" err="1">
                <a:solidFill>
                  <a:srgbClr val="000000"/>
                </a:solidFill>
                <a:effectLst/>
              </a:rPr>
              <a:t>dealer_hand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if </a:t>
            </a:r>
            <a:r>
              <a:rPr lang="en-US" sz="1300" dirty="0" err="1">
                <a:solidFill>
                  <a:srgbClr val="000000"/>
                </a:solidFill>
                <a:effectLst/>
              </a:rPr>
              <a:t>player_value</a:t>
            </a:r>
            <a:r>
              <a:rPr lang="en-US" sz="1300" dirty="0">
                <a:solidFill>
                  <a:srgbClr val="000000"/>
                </a:solidFill>
                <a:effectLst/>
              </a:rPr>
              <a:t> </a:t>
            </a:r>
            <a:r>
              <a:rPr lang="en-US" sz="1300" dirty="0">
                <a:solidFill>
                  <a:srgbClr val="080808"/>
                </a:solidFill>
                <a:effectLst/>
              </a:rPr>
              <a:t>&gt; </a:t>
            </a:r>
            <a:r>
              <a:rPr lang="en-US" sz="1300" dirty="0">
                <a:solidFill>
                  <a:srgbClr val="1750EB"/>
                </a:solidFill>
                <a:effectLst/>
              </a:rPr>
              <a:t>21</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67D17"/>
                </a:solidFill>
                <a:effectLst/>
              </a:rPr>
              <a:t>'lose'</a:t>
            </a:r>
            <a:br>
              <a:rPr lang="en-US" sz="1300" dirty="0">
                <a:solidFill>
                  <a:srgbClr val="067D17"/>
                </a:solidFill>
                <a:effectLst/>
              </a:rPr>
            </a:br>
            <a:r>
              <a:rPr lang="en-US" sz="1300" dirty="0">
                <a:solidFill>
                  <a:srgbClr val="067D17"/>
                </a:solidFill>
                <a:effectLst/>
              </a:rPr>
              <a:t>    </a:t>
            </a:r>
            <a:r>
              <a:rPr lang="en-US" sz="1300" dirty="0" err="1">
                <a:solidFill>
                  <a:srgbClr val="0033B3"/>
                </a:solidFill>
                <a:effectLst/>
              </a:rPr>
              <a:t>elif</a:t>
            </a:r>
            <a:r>
              <a:rPr lang="en-US" sz="1300" dirty="0">
                <a:solidFill>
                  <a:srgbClr val="0033B3"/>
                </a:solidFill>
                <a:effectLst/>
              </a:rPr>
              <a:t> </a:t>
            </a:r>
            <a:r>
              <a:rPr lang="en-US" sz="1300" dirty="0" err="1">
                <a:solidFill>
                  <a:srgbClr val="000000"/>
                </a:solidFill>
                <a:effectLst/>
              </a:rPr>
              <a:t>dealer_value</a:t>
            </a:r>
            <a:r>
              <a:rPr lang="en-US" sz="1300" dirty="0">
                <a:solidFill>
                  <a:srgbClr val="000000"/>
                </a:solidFill>
                <a:effectLst/>
              </a:rPr>
              <a:t> </a:t>
            </a:r>
            <a:r>
              <a:rPr lang="en-US" sz="1300" dirty="0">
                <a:solidFill>
                  <a:srgbClr val="080808"/>
                </a:solidFill>
                <a:effectLst/>
              </a:rPr>
              <a:t>&gt; </a:t>
            </a:r>
            <a:r>
              <a:rPr lang="en-US" sz="1300" dirty="0">
                <a:solidFill>
                  <a:srgbClr val="1750EB"/>
                </a:solidFill>
                <a:effectLst/>
              </a:rPr>
              <a:t>21</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67D17"/>
                </a:solidFill>
                <a:effectLst/>
              </a:rPr>
              <a:t>'win'</a:t>
            </a:r>
            <a:br>
              <a:rPr lang="en-US" sz="1300" dirty="0">
                <a:solidFill>
                  <a:srgbClr val="067D17"/>
                </a:solidFill>
                <a:effectLst/>
              </a:rPr>
            </a:br>
            <a:r>
              <a:rPr lang="en-US" sz="1300" dirty="0">
                <a:solidFill>
                  <a:srgbClr val="067D17"/>
                </a:solidFill>
                <a:effectLst/>
              </a:rPr>
              <a:t>    </a:t>
            </a:r>
            <a:r>
              <a:rPr lang="en-US" sz="1300" dirty="0" err="1">
                <a:solidFill>
                  <a:srgbClr val="0033B3"/>
                </a:solidFill>
                <a:effectLst/>
              </a:rPr>
              <a:t>elif</a:t>
            </a:r>
            <a:r>
              <a:rPr lang="en-US" sz="1300" dirty="0">
                <a:solidFill>
                  <a:srgbClr val="0033B3"/>
                </a:solidFill>
                <a:effectLst/>
              </a:rPr>
              <a:t> </a:t>
            </a:r>
            <a:r>
              <a:rPr lang="en-US" sz="1300" dirty="0" err="1">
                <a:solidFill>
                  <a:srgbClr val="000000"/>
                </a:solidFill>
                <a:effectLst/>
              </a:rPr>
              <a:t>player_value</a:t>
            </a:r>
            <a:r>
              <a:rPr lang="en-US" sz="1300" dirty="0">
                <a:solidFill>
                  <a:srgbClr val="000000"/>
                </a:solidFill>
                <a:effectLst/>
              </a:rPr>
              <a:t> </a:t>
            </a:r>
            <a:r>
              <a:rPr lang="en-US" sz="1300" dirty="0">
                <a:solidFill>
                  <a:srgbClr val="080808"/>
                </a:solidFill>
                <a:effectLst/>
              </a:rPr>
              <a:t>&gt; </a:t>
            </a:r>
            <a:r>
              <a:rPr lang="en-US" sz="1300" dirty="0" err="1">
                <a:solidFill>
                  <a:srgbClr val="000000"/>
                </a:solidFill>
                <a:effectLst/>
              </a:rPr>
              <a:t>dealer_value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67D17"/>
                </a:solidFill>
                <a:effectLst/>
              </a:rPr>
              <a:t>'win'</a:t>
            </a:r>
            <a:br>
              <a:rPr lang="en-US" sz="1300" dirty="0">
                <a:solidFill>
                  <a:srgbClr val="067D17"/>
                </a:solidFill>
                <a:effectLst/>
              </a:rPr>
            </a:br>
            <a:r>
              <a:rPr lang="en-US" sz="1300" dirty="0">
                <a:solidFill>
                  <a:srgbClr val="067D17"/>
                </a:solidFill>
                <a:effectLst/>
              </a:rPr>
              <a:t>    </a:t>
            </a:r>
            <a:r>
              <a:rPr lang="en-US" sz="1300" dirty="0" err="1">
                <a:solidFill>
                  <a:srgbClr val="0033B3"/>
                </a:solidFill>
                <a:effectLst/>
              </a:rPr>
              <a:t>elif</a:t>
            </a:r>
            <a:r>
              <a:rPr lang="en-US" sz="1300" dirty="0">
                <a:solidFill>
                  <a:srgbClr val="0033B3"/>
                </a:solidFill>
                <a:effectLst/>
              </a:rPr>
              <a:t> </a:t>
            </a:r>
            <a:r>
              <a:rPr lang="en-US" sz="1300" dirty="0" err="1">
                <a:solidFill>
                  <a:srgbClr val="000000"/>
                </a:solidFill>
                <a:effectLst/>
              </a:rPr>
              <a:t>player_value</a:t>
            </a:r>
            <a:r>
              <a:rPr lang="en-US" sz="1300" dirty="0">
                <a:solidFill>
                  <a:srgbClr val="000000"/>
                </a:solidFill>
                <a:effectLst/>
              </a:rPr>
              <a:t> </a:t>
            </a:r>
            <a:r>
              <a:rPr lang="en-US" sz="1300" dirty="0">
                <a:solidFill>
                  <a:srgbClr val="080808"/>
                </a:solidFill>
                <a:effectLst/>
              </a:rPr>
              <a:t>&lt; </a:t>
            </a:r>
            <a:r>
              <a:rPr lang="en-US" sz="1300" dirty="0" err="1">
                <a:solidFill>
                  <a:srgbClr val="000000"/>
                </a:solidFill>
                <a:effectLst/>
              </a:rPr>
              <a:t>dealer_value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67D17"/>
                </a:solidFill>
                <a:effectLst/>
              </a:rPr>
              <a:t>'lose'</a:t>
            </a:r>
            <a:br>
              <a:rPr lang="en-US" sz="1300" dirty="0">
                <a:solidFill>
                  <a:srgbClr val="067D17"/>
                </a:solidFill>
                <a:effectLst/>
              </a:rPr>
            </a:br>
            <a:r>
              <a:rPr lang="en-US" sz="1300" dirty="0">
                <a:solidFill>
                  <a:srgbClr val="067D17"/>
                </a:solidFill>
                <a:effectLst/>
              </a:rPr>
              <a:t>    </a:t>
            </a:r>
            <a:r>
              <a:rPr lang="en-US" sz="1300" dirty="0">
                <a:solidFill>
                  <a:srgbClr val="0033B3"/>
                </a:solidFill>
                <a:effectLst/>
              </a:rPr>
              <a:t>else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67D17"/>
                </a:solidFill>
                <a:effectLst/>
              </a:rPr>
              <a:t>'draw'</a:t>
            </a:r>
            <a:br>
              <a:rPr lang="en-US" sz="1300" dirty="0">
                <a:solidFill>
                  <a:srgbClr val="067D17"/>
                </a:solidFill>
                <a:effectLst/>
              </a:rPr>
            </a:br>
            <a:br>
              <a:rPr lang="en-US" sz="1300" dirty="0">
                <a:solidFill>
                  <a:srgbClr val="067D17"/>
                </a:solidFill>
                <a:effectLst/>
              </a:rPr>
            </a:br>
            <a:br>
              <a:rPr lang="en-US" sz="1300" dirty="0">
                <a:solidFill>
                  <a:srgbClr val="067D17"/>
                </a:solidFill>
                <a:effectLst/>
              </a:rPr>
            </a:br>
            <a:r>
              <a:rPr lang="en-US" sz="1300" i="1" dirty="0">
                <a:solidFill>
                  <a:srgbClr val="8C8C8C"/>
                </a:solidFill>
                <a:effectLst/>
              </a:rPr>
              <a:t># Function to run the simulation for each starting value</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run_simulation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0000"/>
                </a:solidFill>
                <a:effectLst/>
              </a:rPr>
              <a:t>results </a:t>
            </a:r>
            <a:r>
              <a:rPr lang="en-US" sz="1300" dirty="0">
                <a:solidFill>
                  <a:srgbClr val="080808"/>
                </a:solidFill>
                <a:effectLst/>
              </a:rPr>
              <a:t>= {}</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for </a:t>
            </a:r>
            <a:r>
              <a:rPr lang="en-US" sz="1300" dirty="0" err="1">
                <a:solidFill>
                  <a:srgbClr val="080808"/>
                </a:solidFill>
                <a:effectLst/>
              </a:rPr>
              <a:t>start_value</a:t>
            </a:r>
            <a:r>
              <a:rPr lang="en-US" sz="1300" dirty="0">
                <a:solidFill>
                  <a:srgbClr val="080808"/>
                </a:solidFill>
                <a:effectLst/>
              </a:rPr>
              <a:t> </a:t>
            </a:r>
            <a:r>
              <a:rPr lang="en-US" sz="1300" dirty="0">
                <a:solidFill>
                  <a:srgbClr val="0033B3"/>
                </a:solidFill>
                <a:effectLst/>
              </a:rPr>
              <a:t>in </a:t>
            </a:r>
            <a:r>
              <a:rPr lang="en-US" sz="1300" dirty="0">
                <a:solidFill>
                  <a:srgbClr val="000080"/>
                </a:solidFill>
                <a:effectLst/>
              </a:rPr>
              <a:t>range</a:t>
            </a:r>
            <a:r>
              <a:rPr lang="en-US" sz="1300" dirty="0">
                <a:solidFill>
                  <a:srgbClr val="080808"/>
                </a:solidFill>
                <a:effectLst/>
              </a:rPr>
              <a:t>(</a:t>
            </a:r>
            <a:r>
              <a:rPr lang="en-US" sz="1300" dirty="0">
                <a:solidFill>
                  <a:srgbClr val="1750EB"/>
                </a:solidFill>
                <a:effectLst/>
              </a:rPr>
              <a:t>4</a:t>
            </a:r>
            <a:r>
              <a:rPr lang="en-US" sz="1300" dirty="0">
                <a:solidFill>
                  <a:srgbClr val="080808"/>
                </a:solidFill>
                <a:effectLst/>
              </a:rPr>
              <a:t>, </a:t>
            </a:r>
            <a:r>
              <a:rPr lang="en-US" sz="1300" dirty="0">
                <a:solidFill>
                  <a:srgbClr val="1750EB"/>
                </a:solidFill>
                <a:effectLst/>
              </a:rPr>
              <a:t>23</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hit_win</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hit_loss</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hit_draw</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stand_win</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stand_loss</a:t>
            </a:r>
            <a:r>
              <a:rPr lang="en-US" sz="1300" dirty="0">
                <a:solidFill>
                  <a:srgbClr val="000000"/>
                </a:solidFill>
                <a:effectLst/>
              </a:rPr>
              <a:t> </a:t>
            </a:r>
            <a:r>
              <a:rPr lang="en-US" sz="1300" dirty="0">
                <a:solidFill>
                  <a:srgbClr val="080808"/>
                </a:solidFill>
                <a:effectLst/>
              </a:rPr>
              <a:t>= </a:t>
            </a:r>
            <a:r>
              <a:rPr lang="en-US" sz="1300" dirty="0" err="1">
                <a:solidFill>
                  <a:srgbClr val="000000"/>
                </a:solidFill>
                <a:effectLst/>
              </a:rPr>
              <a:t>stand_draw</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0</a:t>
            </a:r>
            <a:br>
              <a:rPr lang="en-US" sz="1300" dirty="0">
                <a:solidFill>
                  <a:srgbClr val="1750EB"/>
                </a:solidFill>
                <a:effectLst/>
              </a:rPr>
            </a:br>
            <a:r>
              <a:rPr lang="en-US" sz="1300" dirty="0">
                <a:solidFill>
                  <a:srgbClr val="1750EB"/>
                </a:solidFill>
                <a:effectLst/>
              </a:rPr>
              <a:t>        </a:t>
            </a:r>
            <a:r>
              <a:rPr lang="en-US" sz="1300" dirty="0">
                <a:solidFill>
                  <a:srgbClr val="0033B3"/>
                </a:solidFill>
                <a:effectLst/>
              </a:rPr>
              <a:t>for </a:t>
            </a:r>
            <a:r>
              <a:rPr lang="en-US" sz="1300" dirty="0">
                <a:solidFill>
                  <a:srgbClr val="080808"/>
                </a:solidFill>
                <a:effectLst/>
              </a:rPr>
              <a:t>_ </a:t>
            </a:r>
            <a:r>
              <a:rPr lang="en-US" sz="1300" dirty="0">
                <a:solidFill>
                  <a:srgbClr val="0033B3"/>
                </a:solidFill>
                <a:effectLst/>
              </a:rPr>
              <a:t>in </a:t>
            </a:r>
            <a:r>
              <a:rPr lang="en-US" sz="1300" dirty="0">
                <a:solidFill>
                  <a:srgbClr val="000080"/>
                </a:solidFill>
                <a:effectLst/>
              </a:rPr>
              <a:t>range</a:t>
            </a:r>
            <a:r>
              <a:rPr lang="en-US" sz="1300" dirty="0">
                <a:solidFill>
                  <a:srgbClr val="080808"/>
                </a:solidFill>
                <a:effectLst/>
              </a:rPr>
              <a:t>(</a:t>
            </a:r>
            <a:r>
              <a:rPr lang="en-US" sz="1300" dirty="0">
                <a:solidFill>
                  <a:srgbClr val="1750EB"/>
                </a:solidFill>
                <a:effectLst/>
              </a:rPr>
              <a:t>100000</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player_hand</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simulate_player_turn</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dealer_hand</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dealer_turn</a:t>
            </a:r>
            <a:r>
              <a:rPr lang="en-US" sz="1300" dirty="0">
                <a:solidFill>
                  <a:srgbClr val="080808"/>
                </a:solidFill>
                <a:effectLst/>
              </a:rPr>
              <a:t>()</a:t>
            </a:r>
            <a:br>
              <a:rPr lang="en-US" sz="1300" dirty="0">
                <a:solidFill>
                  <a:srgbClr val="080808"/>
                </a:solidFill>
                <a:effectLst/>
              </a:rPr>
            </a:br>
            <a:br>
              <a:rPr lang="en-US" sz="1300" dirty="0">
                <a:solidFill>
                  <a:srgbClr val="080808"/>
                </a:solidFill>
                <a:effectLst/>
              </a:rPr>
            </a:br>
            <a:r>
              <a:rPr lang="en-US" sz="1300" dirty="0">
                <a:solidFill>
                  <a:srgbClr val="080808"/>
                </a:solidFill>
                <a:effectLst/>
              </a:rPr>
              <a:t>            </a:t>
            </a:r>
            <a:r>
              <a:rPr lang="en-US" sz="1300" i="1" dirty="0">
                <a:solidFill>
                  <a:srgbClr val="8C8C8C"/>
                </a:solidFill>
                <a:effectLst/>
              </a:rPr>
              <a:t># Dealer's turn</a:t>
            </a:r>
            <a:br>
              <a:rPr lang="en-US" sz="1300" i="1" dirty="0">
                <a:solidFill>
                  <a:srgbClr val="8C8C8C"/>
                </a:solidFill>
                <a:effectLst/>
              </a:rPr>
            </a:br>
            <a:r>
              <a:rPr lang="en-US" sz="1300" i="1" dirty="0">
                <a:solidFill>
                  <a:srgbClr val="8C8C8C"/>
                </a:solidFill>
                <a:effectLst/>
              </a:rPr>
              <a:t>            </a:t>
            </a:r>
            <a:r>
              <a:rPr lang="en-US" sz="1300" dirty="0" err="1">
                <a:solidFill>
                  <a:srgbClr val="000000"/>
                </a:solidFill>
                <a:effectLst/>
              </a:rPr>
              <a:t>result_hit</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determine_winner</a:t>
            </a:r>
            <a:r>
              <a:rPr lang="en-US" sz="1300" dirty="0">
                <a:solidFill>
                  <a:srgbClr val="080808"/>
                </a:solidFill>
                <a:effectLst/>
              </a:rPr>
              <a:t>(</a:t>
            </a:r>
            <a:r>
              <a:rPr lang="en-US" sz="1300" dirty="0" err="1">
                <a:solidFill>
                  <a:srgbClr val="000000"/>
                </a:solidFill>
                <a:effectLst/>
              </a:rPr>
              <a:t>player_hand</a:t>
            </a:r>
            <a:r>
              <a:rPr lang="en-US" sz="1300" dirty="0">
                <a:solidFill>
                  <a:srgbClr val="080808"/>
                </a:solidFill>
                <a:effectLst/>
              </a:rPr>
              <a:t>, </a:t>
            </a:r>
            <a:r>
              <a:rPr lang="en-US" sz="1300" dirty="0" err="1">
                <a:solidFill>
                  <a:srgbClr val="000000"/>
                </a:solidFill>
                <a:effectLst/>
              </a:rPr>
              <a:t>dealer_hand</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result_stand</a:t>
            </a:r>
            <a:r>
              <a:rPr lang="en-US" sz="1300" dirty="0">
                <a:solidFill>
                  <a:srgbClr val="000000"/>
                </a:solidFill>
                <a:effectLst/>
              </a:rPr>
              <a:t> </a:t>
            </a:r>
            <a:r>
              <a:rPr lang="en-US" sz="1300" dirty="0">
                <a:solidFill>
                  <a:srgbClr val="080808"/>
                </a:solidFill>
                <a:effectLst/>
              </a:rPr>
              <a:t>= </a:t>
            </a:r>
            <a:r>
              <a:rPr lang="en-US" sz="1300" dirty="0" err="1">
                <a:solidFill>
                  <a:srgbClr val="080808"/>
                </a:solidFill>
                <a:effectLst/>
              </a:rPr>
              <a:t>determine_winner</a:t>
            </a:r>
            <a:r>
              <a:rPr lang="en-US" sz="1300" dirty="0">
                <a:solidFill>
                  <a:srgbClr val="080808"/>
                </a:solidFill>
                <a:effectLst/>
              </a:rPr>
              <a:t>(</a:t>
            </a:r>
            <a:r>
              <a:rPr lang="en-US" sz="1300" dirty="0" err="1">
                <a:solidFill>
                  <a:srgbClr val="000000"/>
                </a:solidFill>
                <a:effectLst/>
              </a:rPr>
              <a:t>player_hand</a:t>
            </a:r>
            <a:r>
              <a:rPr lang="en-US" sz="1300" dirty="0">
                <a:solidFill>
                  <a:srgbClr val="080808"/>
                </a:solidFill>
                <a:effectLst/>
              </a:rPr>
              <a:t>, </a:t>
            </a:r>
            <a:r>
              <a:rPr lang="en-US" sz="1300" dirty="0" err="1">
                <a:solidFill>
                  <a:srgbClr val="080808"/>
                </a:solidFill>
                <a:effectLst/>
              </a:rPr>
              <a:t>dealer_turn</a:t>
            </a:r>
            <a:r>
              <a:rPr lang="en-US" sz="1300" dirty="0">
                <a:solidFill>
                  <a:srgbClr val="080808"/>
                </a:solidFill>
                <a:effectLst/>
              </a:rPr>
              <a:t>())</a:t>
            </a:r>
            <a:br>
              <a:rPr lang="en-US" sz="1300" dirty="0">
                <a:solidFill>
                  <a:srgbClr val="080808"/>
                </a:solidFill>
                <a:effectLst/>
              </a:rPr>
            </a:br>
            <a:br>
              <a:rPr lang="en-US" sz="1300" dirty="0">
                <a:solidFill>
                  <a:srgbClr val="080808"/>
                </a:solidFill>
                <a:effectLst/>
              </a:rPr>
            </a:br>
            <a:r>
              <a:rPr lang="en-US" sz="1300" dirty="0">
                <a:solidFill>
                  <a:srgbClr val="080808"/>
                </a:solidFill>
                <a:effectLst/>
              </a:rPr>
              <a:t>            </a:t>
            </a:r>
            <a:r>
              <a:rPr lang="en-US" sz="1300" i="1" dirty="0">
                <a:solidFill>
                  <a:srgbClr val="8C8C8C"/>
                </a:solidFill>
                <a:effectLst/>
              </a:rPr>
              <a:t># Update counts</a:t>
            </a:r>
            <a:br>
              <a:rPr lang="en-US" sz="1300" i="1" dirty="0">
                <a:solidFill>
                  <a:srgbClr val="8C8C8C"/>
                </a:solidFill>
                <a:effectLst/>
              </a:rPr>
            </a:br>
            <a:r>
              <a:rPr lang="en-US" sz="1300" i="1" dirty="0">
                <a:solidFill>
                  <a:srgbClr val="8C8C8C"/>
                </a:solidFill>
                <a:effectLst/>
              </a:rPr>
              <a:t>            </a:t>
            </a:r>
            <a:r>
              <a:rPr lang="en-US" sz="1300" dirty="0">
                <a:solidFill>
                  <a:srgbClr val="0033B3"/>
                </a:solidFill>
                <a:effectLst/>
              </a:rPr>
              <a:t>if </a:t>
            </a:r>
            <a:r>
              <a:rPr lang="en-US" sz="1300" dirty="0" err="1">
                <a:solidFill>
                  <a:srgbClr val="000000"/>
                </a:solidFill>
                <a:effectLst/>
              </a:rPr>
              <a:t>result_hit</a:t>
            </a:r>
            <a:r>
              <a:rPr lang="en-US" sz="1300" dirty="0">
                <a:solidFill>
                  <a:srgbClr val="000000"/>
                </a:solidFill>
                <a:effectLst/>
              </a:rPr>
              <a:t> </a:t>
            </a:r>
            <a:r>
              <a:rPr lang="en-US" sz="1300" dirty="0">
                <a:solidFill>
                  <a:srgbClr val="080808"/>
                </a:solidFill>
                <a:effectLst/>
              </a:rPr>
              <a:t>== </a:t>
            </a:r>
            <a:r>
              <a:rPr lang="en-US" sz="1300" dirty="0">
                <a:solidFill>
                  <a:srgbClr val="067D17"/>
                </a:solidFill>
                <a:effectLst/>
              </a:rPr>
              <a:t>'win'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hit_win</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r>
              <a:rPr lang="en-US" sz="1300" dirty="0">
                <a:solidFill>
                  <a:srgbClr val="1750EB"/>
                </a:solidFill>
                <a:effectLst/>
              </a:rPr>
              <a:t>            </a:t>
            </a:r>
            <a:r>
              <a:rPr lang="en-US" sz="1300" dirty="0" err="1">
                <a:solidFill>
                  <a:srgbClr val="0033B3"/>
                </a:solidFill>
                <a:effectLst/>
              </a:rPr>
              <a:t>elif</a:t>
            </a:r>
            <a:r>
              <a:rPr lang="en-US" sz="1300" dirty="0">
                <a:solidFill>
                  <a:srgbClr val="0033B3"/>
                </a:solidFill>
                <a:effectLst/>
              </a:rPr>
              <a:t> </a:t>
            </a:r>
            <a:r>
              <a:rPr lang="en-US" sz="1300" dirty="0" err="1">
                <a:solidFill>
                  <a:srgbClr val="000000"/>
                </a:solidFill>
                <a:effectLst/>
              </a:rPr>
              <a:t>result_hit</a:t>
            </a:r>
            <a:r>
              <a:rPr lang="en-US" sz="1300" dirty="0">
                <a:solidFill>
                  <a:srgbClr val="000000"/>
                </a:solidFill>
                <a:effectLst/>
              </a:rPr>
              <a:t> </a:t>
            </a:r>
            <a:r>
              <a:rPr lang="en-US" sz="1300" dirty="0">
                <a:solidFill>
                  <a:srgbClr val="080808"/>
                </a:solidFill>
                <a:effectLst/>
              </a:rPr>
              <a:t>== </a:t>
            </a:r>
            <a:r>
              <a:rPr lang="en-US" sz="1300" dirty="0">
                <a:solidFill>
                  <a:srgbClr val="067D17"/>
                </a:solidFill>
                <a:effectLst/>
              </a:rPr>
              <a:t>'lose'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hit_loss</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r>
              <a:rPr lang="en-US" sz="1300" dirty="0">
                <a:solidFill>
                  <a:srgbClr val="1750EB"/>
                </a:solidFill>
                <a:effectLst/>
              </a:rPr>
              <a:t>            </a:t>
            </a:r>
            <a:r>
              <a:rPr lang="en-US" sz="1300" dirty="0">
                <a:solidFill>
                  <a:srgbClr val="0033B3"/>
                </a:solidFill>
                <a:effectLst/>
              </a:rPr>
              <a:t>else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hit_draw</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br>
              <a:rPr lang="en-US" sz="1300" dirty="0">
                <a:solidFill>
                  <a:srgbClr val="1750EB"/>
                </a:solidFill>
                <a:effectLst/>
              </a:rPr>
            </a:br>
            <a:r>
              <a:rPr lang="en-US" sz="1300" dirty="0">
                <a:solidFill>
                  <a:srgbClr val="1750EB"/>
                </a:solidFill>
                <a:effectLst/>
              </a:rPr>
              <a:t>            </a:t>
            </a:r>
            <a:r>
              <a:rPr lang="en-US" sz="1300" dirty="0">
                <a:solidFill>
                  <a:srgbClr val="0033B3"/>
                </a:solidFill>
                <a:effectLst/>
              </a:rPr>
              <a:t>if </a:t>
            </a:r>
            <a:r>
              <a:rPr lang="en-US" sz="1300" dirty="0" err="1">
                <a:solidFill>
                  <a:srgbClr val="000000"/>
                </a:solidFill>
                <a:effectLst/>
              </a:rPr>
              <a:t>result_stand</a:t>
            </a:r>
            <a:r>
              <a:rPr lang="en-US" sz="1300" dirty="0">
                <a:solidFill>
                  <a:srgbClr val="000000"/>
                </a:solidFill>
                <a:effectLst/>
              </a:rPr>
              <a:t> </a:t>
            </a:r>
            <a:r>
              <a:rPr lang="en-US" sz="1300" dirty="0">
                <a:solidFill>
                  <a:srgbClr val="080808"/>
                </a:solidFill>
                <a:effectLst/>
              </a:rPr>
              <a:t>== </a:t>
            </a:r>
            <a:r>
              <a:rPr lang="en-US" sz="1300" dirty="0">
                <a:solidFill>
                  <a:srgbClr val="067D17"/>
                </a:solidFill>
                <a:effectLst/>
              </a:rPr>
              <a:t>'win'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stand_win</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r>
              <a:rPr lang="en-US" sz="1300" dirty="0">
                <a:solidFill>
                  <a:srgbClr val="1750EB"/>
                </a:solidFill>
                <a:effectLst/>
              </a:rPr>
              <a:t>            </a:t>
            </a:r>
            <a:r>
              <a:rPr lang="en-US" sz="1300" dirty="0" err="1">
                <a:solidFill>
                  <a:srgbClr val="0033B3"/>
                </a:solidFill>
                <a:effectLst/>
              </a:rPr>
              <a:t>elif</a:t>
            </a:r>
            <a:r>
              <a:rPr lang="en-US" sz="1300" dirty="0">
                <a:solidFill>
                  <a:srgbClr val="0033B3"/>
                </a:solidFill>
                <a:effectLst/>
              </a:rPr>
              <a:t> </a:t>
            </a:r>
            <a:r>
              <a:rPr lang="en-US" sz="1300" dirty="0" err="1">
                <a:solidFill>
                  <a:srgbClr val="000000"/>
                </a:solidFill>
                <a:effectLst/>
              </a:rPr>
              <a:t>result_stand</a:t>
            </a:r>
            <a:r>
              <a:rPr lang="en-US" sz="1300" dirty="0">
                <a:solidFill>
                  <a:srgbClr val="000000"/>
                </a:solidFill>
                <a:effectLst/>
              </a:rPr>
              <a:t> </a:t>
            </a:r>
            <a:r>
              <a:rPr lang="en-US" sz="1300" dirty="0">
                <a:solidFill>
                  <a:srgbClr val="080808"/>
                </a:solidFill>
                <a:effectLst/>
              </a:rPr>
              <a:t>== </a:t>
            </a:r>
            <a:r>
              <a:rPr lang="en-US" sz="1300" dirty="0">
                <a:solidFill>
                  <a:srgbClr val="067D17"/>
                </a:solidFill>
                <a:effectLst/>
              </a:rPr>
              <a:t>'lose'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stand_loss</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r>
              <a:rPr lang="en-US" sz="1300" dirty="0">
                <a:solidFill>
                  <a:srgbClr val="1750EB"/>
                </a:solidFill>
                <a:effectLst/>
              </a:rPr>
              <a:t>            </a:t>
            </a:r>
            <a:r>
              <a:rPr lang="en-US" sz="1300" dirty="0">
                <a:solidFill>
                  <a:srgbClr val="0033B3"/>
                </a:solidFill>
                <a:effectLst/>
              </a:rPr>
              <a:t>else</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stand_draw</a:t>
            </a:r>
            <a:r>
              <a:rPr lang="en-US" sz="1300" dirty="0">
                <a:solidFill>
                  <a:srgbClr val="000000"/>
                </a:solidFill>
                <a:effectLst/>
              </a:rPr>
              <a:t> </a:t>
            </a:r>
            <a:r>
              <a:rPr lang="en-US" sz="1300" dirty="0">
                <a:solidFill>
                  <a:srgbClr val="080808"/>
                </a:solidFill>
                <a:effectLst/>
              </a:rPr>
              <a:t>+= </a:t>
            </a:r>
            <a:r>
              <a:rPr lang="en-US" sz="1300" dirty="0">
                <a:solidFill>
                  <a:srgbClr val="1750EB"/>
                </a:solidFill>
                <a:effectLst/>
              </a:rPr>
              <a:t>1</a:t>
            </a:r>
            <a:br>
              <a:rPr lang="en-US" sz="1300" dirty="0">
                <a:solidFill>
                  <a:srgbClr val="1750EB"/>
                </a:solidFill>
                <a:effectLst/>
              </a:rPr>
            </a:br>
            <a:br>
              <a:rPr lang="en-US" sz="1300" dirty="0">
                <a:solidFill>
                  <a:srgbClr val="1750EB"/>
                </a:solidFill>
                <a:effectLst/>
              </a:rPr>
            </a:br>
            <a:r>
              <a:rPr lang="en-US" sz="1300" dirty="0">
                <a:solidFill>
                  <a:srgbClr val="1750EB"/>
                </a:solidFill>
                <a:effectLst/>
              </a:rPr>
              <a:t>        </a:t>
            </a:r>
            <a:r>
              <a:rPr lang="en-US" sz="1300" i="1" dirty="0">
                <a:solidFill>
                  <a:srgbClr val="8C8C8C"/>
                </a:solidFill>
                <a:effectLst/>
              </a:rPr>
              <a:t># Store results for the current starting value</a:t>
            </a:r>
            <a:br>
              <a:rPr lang="en-US" sz="1300" i="1" dirty="0">
                <a:solidFill>
                  <a:srgbClr val="8C8C8C"/>
                </a:solidFill>
                <a:effectLst/>
              </a:rPr>
            </a:br>
            <a:r>
              <a:rPr lang="en-US" sz="1300" i="1" dirty="0">
                <a:solidFill>
                  <a:srgbClr val="8C8C8C"/>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 = {</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hit_win</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hit_win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hit_loss</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hit_loss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hit_draw</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hit_draw</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stand_win</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stand_win</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stand_loss</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stand_loss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a:t>
            </a:r>
            <a:r>
              <a:rPr lang="en-US" sz="1300" dirty="0" err="1">
                <a:solidFill>
                  <a:srgbClr val="067D17"/>
                </a:solidFill>
                <a:effectLst/>
              </a:rPr>
              <a:t>stand_draw</a:t>
            </a:r>
            <a:r>
              <a:rPr lang="en-US" sz="1300" dirty="0">
                <a:solidFill>
                  <a:srgbClr val="067D17"/>
                </a:solidFill>
                <a:effectLst/>
              </a:rPr>
              <a:t>'</a:t>
            </a:r>
            <a:r>
              <a:rPr lang="en-US" sz="1300" dirty="0">
                <a:solidFill>
                  <a:srgbClr val="080808"/>
                </a:solidFill>
                <a:effectLst/>
              </a:rPr>
              <a:t>: </a:t>
            </a:r>
            <a:r>
              <a:rPr lang="en-US" sz="1300" dirty="0" err="1">
                <a:solidFill>
                  <a:srgbClr val="000000"/>
                </a:solidFill>
                <a:effectLst/>
              </a:rPr>
              <a:t>stand_draw</a:t>
            </a:r>
            <a:br>
              <a:rPr lang="en-US" sz="1300" dirty="0">
                <a:solidFill>
                  <a:srgbClr val="000000"/>
                </a:solidFill>
                <a:effectLst/>
              </a:rPr>
            </a:br>
            <a:r>
              <a:rPr lang="en-US" sz="1300" dirty="0">
                <a:solidFill>
                  <a:srgbClr val="000000"/>
                </a:solidFill>
                <a:effectLst/>
              </a:rPr>
              <a:t>        </a:t>
            </a:r>
            <a:r>
              <a:rPr lang="en-US" sz="1300" dirty="0">
                <a:solidFill>
                  <a:srgbClr val="080808"/>
                </a:solidFill>
                <a:effectLst/>
              </a:rPr>
              <a:t>}</a:t>
            </a:r>
            <a:br>
              <a:rPr lang="en-US" sz="1300" dirty="0">
                <a:solidFill>
                  <a:srgbClr val="080808"/>
                </a:solidFill>
                <a:effectLst/>
              </a:rPr>
            </a:br>
            <a:br>
              <a:rPr lang="en-US" sz="1300" dirty="0">
                <a:solidFill>
                  <a:srgbClr val="080808"/>
                </a:solidFill>
                <a:effectLst/>
              </a:rPr>
            </a:br>
            <a:r>
              <a:rPr lang="en-US" sz="1300" dirty="0">
                <a:solidFill>
                  <a:srgbClr val="080808"/>
                </a:solidFill>
                <a:effectLst/>
              </a:rPr>
              <a:t>    </a:t>
            </a:r>
            <a:r>
              <a:rPr lang="en-US" sz="1300" i="1" dirty="0">
                <a:solidFill>
                  <a:srgbClr val="8C8C8C"/>
                </a:solidFill>
                <a:effectLst/>
              </a:rPr>
              <a:t># Print results table</a:t>
            </a:r>
            <a:br>
              <a:rPr lang="en-US" sz="1300" i="1" dirty="0">
                <a:solidFill>
                  <a:srgbClr val="8C8C8C"/>
                </a:solidFill>
                <a:effectLst/>
              </a:rPr>
            </a:br>
            <a:r>
              <a:rPr lang="en-US" sz="1300" i="1" dirty="0">
                <a:solidFill>
                  <a:srgbClr val="8C8C8C"/>
                </a:solidFill>
                <a:effectLst/>
              </a:rPr>
              <a:t>    </a:t>
            </a:r>
            <a:r>
              <a:rPr lang="en-US" sz="1300" dirty="0" err="1">
                <a:solidFill>
                  <a:srgbClr val="080808"/>
                </a:solidFill>
                <a:effectLst/>
              </a:rPr>
              <a:t>print_results_table</a:t>
            </a:r>
            <a:r>
              <a:rPr lang="en-US" sz="1300" dirty="0">
                <a:solidFill>
                  <a:srgbClr val="080808"/>
                </a:solidFill>
                <a:effectLst/>
              </a:rPr>
              <a:t>(</a:t>
            </a:r>
            <a:r>
              <a:rPr lang="en-US" sz="1300" dirty="0">
                <a:solidFill>
                  <a:srgbClr val="000000"/>
                </a:solidFill>
                <a:effectLst/>
              </a:rPr>
              <a:t>results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return </a:t>
            </a:r>
            <a:r>
              <a:rPr lang="en-US" sz="1300" dirty="0">
                <a:solidFill>
                  <a:srgbClr val="000000"/>
                </a:solidFill>
                <a:effectLst/>
              </a:rPr>
              <a:t>results</a:t>
            </a:r>
            <a:br>
              <a:rPr lang="en-US" sz="1300" dirty="0">
                <a:solidFill>
                  <a:srgbClr val="000000"/>
                </a:solidFill>
                <a:effectLst/>
              </a:rPr>
            </a:br>
            <a:br>
              <a:rPr lang="en-US" sz="1300" dirty="0">
                <a:solidFill>
                  <a:srgbClr val="000000"/>
                </a:solidFill>
                <a:effectLst/>
              </a:rPr>
            </a:br>
            <a:br>
              <a:rPr lang="en-US" sz="1300" dirty="0">
                <a:solidFill>
                  <a:srgbClr val="000000"/>
                </a:solidFill>
                <a:effectLst/>
              </a:rPr>
            </a:br>
            <a:r>
              <a:rPr lang="en-US" sz="1300" i="1" dirty="0">
                <a:solidFill>
                  <a:srgbClr val="8C8C8C"/>
                </a:solidFill>
                <a:effectLst/>
              </a:rPr>
              <a:t># Function to print results in table form</a:t>
            </a:r>
            <a:br>
              <a:rPr lang="en-US" sz="1300" i="1" dirty="0">
                <a:solidFill>
                  <a:srgbClr val="8C8C8C"/>
                </a:solidFill>
                <a:effectLst/>
              </a:rPr>
            </a:br>
            <a:r>
              <a:rPr lang="en-US" sz="1300" dirty="0">
                <a:solidFill>
                  <a:srgbClr val="0033B3"/>
                </a:solidFill>
                <a:effectLst/>
              </a:rPr>
              <a:t>def </a:t>
            </a:r>
            <a:r>
              <a:rPr lang="en-US" sz="1300" dirty="0" err="1">
                <a:solidFill>
                  <a:srgbClr val="00627A"/>
                </a:solidFill>
                <a:effectLst/>
              </a:rPr>
              <a:t>print_results_table</a:t>
            </a:r>
            <a:r>
              <a:rPr lang="en-US" sz="1300" dirty="0">
                <a:solidFill>
                  <a:srgbClr val="080808"/>
                </a:solidFill>
                <a:effectLst/>
              </a:rPr>
              <a:t>(</a:t>
            </a:r>
            <a:r>
              <a:rPr lang="en-US" sz="1300" dirty="0">
                <a:solidFill>
                  <a:srgbClr val="000000"/>
                </a:solidFill>
                <a:effectLst/>
              </a:rPr>
              <a:t>results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0080"/>
                </a:solidFill>
                <a:effectLst/>
              </a:rPr>
              <a:t>print</a:t>
            </a:r>
            <a:r>
              <a:rPr lang="en-US" sz="1300" dirty="0">
                <a:solidFill>
                  <a:srgbClr val="080808"/>
                </a:solidFill>
                <a:effectLst/>
              </a:rPr>
              <a:t>(</a:t>
            </a:r>
            <a:r>
              <a:rPr lang="en-US" sz="1300" dirty="0">
                <a:solidFill>
                  <a:srgbClr val="067D17"/>
                </a:solidFill>
                <a:effectLst/>
              </a:rPr>
              <a:t>"Starting Value | Hit Wins | Hit Losses | Hit Draws | Stand Wins | Stand Losses | Stand Draws"</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0080"/>
                </a:solidFill>
                <a:effectLst/>
              </a:rPr>
              <a:t>print</a:t>
            </a:r>
            <a:r>
              <a:rPr lang="en-US" sz="1300" dirty="0">
                <a:solidFill>
                  <a:srgbClr val="080808"/>
                </a:solidFill>
                <a:effectLst/>
              </a:rPr>
              <a:t>(</a:t>
            </a:r>
            <a:r>
              <a:rPr lang="en-US" sz="1300" dirty="0">
                <a:solidFill>
                  <a:srgbClr val="067D17"/>
                </a:solidFill>
                <a:effectLst/>
              </a:rPr>
              <a:t>"-" </a:t>
            </a:r>
            <a:r>
              <a:rPr lang="en-US" sz="1300" dirty="0">
                <a:solidFill>
                  <a:srgbClr val="080808"/>
                </a:solidFill>
                <a:effectLst/>
              </a:rPr>
              <a:t>* </a:t>
            </a:r>
            <a:r>
              <a:rPr lang="en-US" sz="1300" dirty="0">
                <a:solidFill>
                  <a:srgbClr val="1750EB"/>
                </a:solidFill>
                <a:effectLst/>
              </a:rPr>
              <a:t>85</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33B3"/>
                </a:solidFill>
                <a:effectLst/>
              </a:rPr>
              <a:t>for </a:t>
            </a:r>
            <a:r>
              <a:rPr lang="en-US" sz="1300" dirty="0" err="1">
                <a:solidFill>
                  <a:srgbClr val="080808"/>
                </a:solidFill>
                <a:effectLst/>
              </a:rPr>
              <a:t>start_value</a:t>
            </a:r>
            <a:r>
              <a:rPr lang="en-US" sz="1300" dirty="0">
                <a:solidFill>
                  <a:srgbClr val="080808"/>
                </a:solidFill>
                <a:effectLst/>
              </a:rPr>
              <a:t> </a:t>
            </a:r>
            <a:r>
              <a:rPr lang="en-US" sz="1300" dirty="0">
                <a:solidFill>
                  <a:srgbClr val="0033B3"/>
                </a:solidFill>
                <a:effectLst/>
              </a:rPr>
              <a:t>in </a:t>
            </a:r>
            <a:r>
              <a:rPr lang="en-US" sz="1300" dirty="0">
                <a:solidFill>
                  <a:srgbClr val="000080"/>
                </a:solidFill>
                <a:effectLst/>
              </a:rPr>
              <a:t>range</a:t>
            </a:r>
            <a:r>
              <a:rPr lang="en-US" sz="1300" dirty="0">
                <a:solidFill>
                  <a:srgbClr val="080808"/>
                </a:solidFill>
                <a:effectLst/>
              </a:rPr>
              <a:t>(</a:t>
            </a:r>
            <a:r>
              <a:rPr lang="en-US" sz="1300" dirty="0">
                <a:solidFill>
                  <a:srgbClr val="1750EB"/>
                </a:solidFill>
                <a:effectLst/>
              </a:rPr>
              <a:t>4</a:t>
            </a:r>
            <a:r>
              <a:rPr lang="en-US" sz="1300" dirty="0">
                <a:solidFill>
                  <a:srgbClr val="080808"/>
                </a:solidFill>
                <a:effectLst/>
              </a:rPr>
              <a:t>, </a:t>
            </a:r>
            <a:r>
              <a:rPr lang="en-US" sz="1300" dirty="0">
                <a:solidFill>
                  <a:srgbClr val="1750EB"/>
                </a:solidFill>
                <a:effectLst/>
              </a:rPr>
              <a:t>23</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hit_win</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hit_win</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hit_loss</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hit_loss</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hit_draw</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hit_draw</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stand_win</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stand_win</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stand_loss</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stand_loss</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err="1">
                <a:solidFill>
                  <a:srgbClr val="000000"/>
                </a:solidFill>
                <a:effectLst/>
              </a:rPr>
              <a:t>stand_draw</a:t>
            </a:r>
            <a:r>
              <a:rPr lang="en-US" sz="1300" dirty="0">
                <a:solidFill>
                  <a:srgbClr val="000000"/>
                </a:solidFill>
                <a:effectLst/>
              </a:rPr>
              <a:t> </a:t>
            </a:r>
            <a:r>
              <a:rPr lang="en-US" sz="1300" dirty="0">
                <a:solidFill>
                  <a:srgbClr val="080808"/>
                </a:solidFill>
                <a:effectLst/>
              </a:rPr>
              <a:t>= </a:t>
            </a:r>
            <a:r>
              <a:rPr lang="en-US" sz="1300" dirty="0">
                <a:solidFill>
                  <a:srgbClr val="000000"/>
                </a:solidFill>
                <a:effectLst/>
              </a:rPr>
              <a:t>results</a:t>
            </a:r>
            <a:r>
              <a:rPr lang="en-US" sz="1300" dirty="0">
                <a:solidFill>
                  <a:srgbClr val="080808"/>
                </a:solidFill>
                <a:effectLst/>
              </a:rPr>
              <a:t>[</a:t>
            </a:r>
            <a:r>
              <a:rPr lang="en-US" sz="1300" dirty="0" err="1">
                <a:solidFill>
                  <a:srgbClr val="000000"/>
                </a:solidFill>
                <a:effectLst/>
              </a:rPr>
              <a:t>start_value</a:t>
            </a:r>
            <a:r>
              <a:rPr lang="en-US" sz="1300" dirty="0">
                <a:solidFill>
                  <a:srgbClr val="080808"/>
                </a:solidFill>
                <a:effectLst/>
              </a:rPr>
              <a:t>][</a:t>
            </a:r>
            <a:r>
              <a:rPr lang="en-US" sz="1300" dirty="0">
                <a:solidFill>
                  <a:srgbClr val="067D17"/>
                </a:solidFill>
                <a:effectLst/>
              </a:rPr>
              <a:t>'</a:t>
            </a:r>
            <a:r>
              <a:rPr lang="en-US" sz="1300" dirty="0" err="1">
                <a:solidFill>
                  <a:srgbClr val="067D17"/>
                </a:solidFill>
                <a:effectLst/>
              </a:rPr>
              <a:t>stand_draw</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00080"/>
                </a:solidFill>
                <a:effectLst/>
              </a:rPr>
              <a:t>print</a:t>
            </a:r>
            <a:r>
              <a:rPr lang="en-US" sz="1300" dirty="0">
                <a:solidFill>
                  <a:srgbClr val="080808"/>
                </a:solidFill>
                <a:effectLst/>
              </a:rPr>
              <a:t>(</a:t>
            </a:r>
            <a:br>
              <a:rPr lang="en-US" sz="1300" dirty="0">
                <a:solidFill>
                  <a:srgbClr val="080808"/>
                </a:solidFill>
                <a:effectLst/>
              </a:rPr>
            </a:br>
            <a:r>
              <a:rPr lang="en-US" sz="1300" dirty="0">
                <a:solidFill>
                  <a:srgbClr val="080808"/>
                </a:solidFill>
                <a:effectLst/>
              </a:rPr>
              <a:t>            </a:t>
            </a:r>
            <a:r>
              <a:rPr lang="en-US" sz="1300" dirty="0">
                <a:solidFill>
                  <a:srgbClr val="067D17"/>
                </a:solidFill>
                <a:effectLst/>
              </a:rPr>
              <a:t>f"</a:t>
            </a:r>
            <a:r>
              <a:rPr lang="en-US" sz="1300" dirty="0">
                <a:solidFill>
                  <a:srgbClr val="0037A6"/>
                </a:solidFill>
                <a:effectLst/>
              </a:rPr>
              <a:t>{</a:t>
            </a:r>
            <a:r>
              <a:rPr lang="en-US" sz="1300" dirty="0" err="1">
                <a:solidFill>
                  <a:srgbClr val="000000"/>
                </a:solidFill>
                <a:effectLst/>
              </a:rPr>
              <a:t>start_value</a:t>
            </a:r>
            <a:r>
              <a:rPr lang="en-US" sz="1300" dirty="0">
                <a:solidFill>
                  <a:srgbClr val="0037A6"/>
                </a:solidFill>
                <a:effectLst/>
              </a:rPr>
              <a:t>:</a:t>
            </a:r>
            <a:r>
              <a:rPr lang="en-US" sz="1300" dirty="0">
                <a:solidFill>
                  <a:srgbClr val="067D17"/>
                </a:solidFill>
                <a:effectLst/>
              </a:rPr>
              <a:t>^14</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hit_win</a:t>
            </a:r>
            <a:r>
              <a:rPr lang="en-US" sz="1300" dirty="0">
                <a:solidFill>
                  <a:srgbClr val="0037A6"/>
                </a:solidFill>
                <a:effectLst/>
              </a:rPr>
              <a:t>:</a:t>
            </a:r>
            <a:r>
              <a:rPr lang="en-US" sz="1300" dirty="0">
                <a:solidFill>
                  <a:srgbClr val="067D17"/>
                </a:solidFill>
                <a:effectLst/>
              </a:rPr>
              <a:t>^9</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hit_loss</a:t>
            </a:r>
            <a:r>
              <a:rPr lang="en-US" sz="1300" dirty="0">
                <a:solidFill>
                  <a:srgbClr val="0037A6"/>
                </a:solidFill>
                <a:effectLst/>
              </a:rPr>
              <a:t>:</a:t>
            </a:r>
            <a:r>
              <a:rPr lang="en-US" sz="1300" dirty="0">
                <a:solidFill>
                  <a:srgbClr val="067D17"/>
                </a:solidFill>
                <a:effectLst/>
              </a:rPr>
              <a:t>^11</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hit_draw</a:t>
            </a:r>
            <a:r>
              <a:rPr lang="en-US" sz="1300" dirty="0">
                <a:solidFill>
                  <a:srgbClr val="0037A6"/>
                </a:solidFill>
                <a:effectLst/>
              </a:rPr>
              <a:t>:</a:t>
            </a:r>
            <a:r>
              <a:rPr lang="en-US" sz="1300" dirty="0">
                <a:solidFill>
                  <a:srgbClr val="067D17"/>
                </a:solidFill>
                <a:effectLst/>
              </a:rPr>
              <a:t>^9</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stand_win</a:t>
            </a:r>
            <a:r>
              <a:rPr lang="en-US" sz="1300" dirty="0">
                <a:solidFill>
                  <a:srgbClr val="0037A6"/>
                </a:solidFill>
                <a:effectLst/>
              </a:rPr>
              <a:t>:</a:t>
            </a:r>
            <a:r>
              <a:rPr lang="en-US" sz="1300" dirty="0">
                <a:solidFill>
                  <a:srgbClr val="067D17"/>
                </a:solidFill>
                <a:effectLst/>
              </a:rPr>
              <a:t>^10</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stand_loss</a:t>
            </a:r>
            <a:r>
              <a:rPr lang="en-US" sz="1300" dirty="0">
                <a:solidFill>
                  <a:srgbClr val="0037A6"/>
                </a:solidFill>
                <a:effectLst/>
              </a:rPr>
              <a:t>:</a:t>
            </a:r>
            <a:r>
              <a:rPr lang="en-US" sz="1300" dirty="0">
                <a:solidFill>
                  <a:srgbClr val="067D17"/>
                </a:solidFill>
                <a:effectLst/>
              </a:rPr>
              <a:t>^13</a:t>
            </a:r>
            <a:r>
              <a:rPr lang="en-US" sz="1300" dirty="0">
                <a:solidFill>
                  <a:srgbClr val="0037A6"/>
                </a:solidFill>
                <a:effectLst/>
              </a:rPr>
              <a:t>}</a:t>
            </a:r>
            <a:r>
              <a:rPr lang="en-US" sz="1300" dirty="0">
                <a:solidFill>
                  <a:srgbClr val="067D17"/>
                </a:solidFill>
                <a:effectLst/>
              </a:rPr>
              <a:t> | </a:t>
            </a:r>
            <a:r>
              <a:rPr lang="en-US" sz="1300" dirty="0">
                <a:solidFill>
                  <a:srgbClr val="0037A6"/>
                </a:solidFill>
                <a:effectLst/>
              </a:rPr>
              <a:t>{</a:t>
            </a:r>
            <a:r>
              <a:rPr lang="en-US" sz="1300" dirty="0" err="1">
                <a:solidFill>
                  <a:srgbClr val="000000"/>
                </a:solidFill>
                <a:effectLst/>
              </a:rPr>
              <a:t>stand_draw</a:t>
            </a:r>
            <a:r>
              <a:rPr lang="en-US" sz="1300" dirty="0">
                <a:solidFill>
                  <a:srgbClr val="0037A6"/>
                </a:solidFill>
                <a:effectLst/>
              </a:rPr>
              <a:t>:</a:t>
            </a:r>
            <a:r>
              <a:rPr lang="en-US" sz="1300" dirty="0">
                <a:solidFill>
                  <a:srgbClr val="067D17"/>
                </a:solidFill>
                <a:effectLst/>
              </a:rPr>
              <a:t>^11</a:t>
            </a:r>
            <a:r>
              <a:rPr lang="en-US" sz="1300" dirty="0">
                <a:solidFill>
                  <a:srgbClr val="0037A6"/>
                </a:solidFill>
                <a:effectLst/>
              </a:rPr>
              <a:t>}</a:t>
            </a:r>
            <a:r>
              <a:rPr lang="en-US" sz="1300" dirty="0">
                <a:solidFill>
                  <a:srgbClr val="067D17"/>
                </a:solidFill>
                <a:effectLst/>
              </a:rPr>
              <a:t>"</a:t>
            </a:r>
            <a:r>
              <a:rPr lang="en-US" sz="1300" dirty="0">
                <a:solidFill>
                  <a:srgbClr val="080808"/>
                </a:solidFill>
                <a:effectLst/>
              </a:rPr>
              <a:t>)</a:t>
            </a:r>
            <a:br>
              <a:rPr lang="en-US" sz="1300" dirty="0">
                <a:solidFill>
                  <a:srgbClr val="080808"/>
                </a:solidFill>
                <a:effectLst/>
              </a:rPr>
            </a:br>
            <a:br>
              <a:rPr lang="en-US" sz="1300" dirty="0">
                <a:solidFill>
                  <a:srgbClr val="080808"/>
                </a:solidFill>
                <a:effectLst/>
              </a:rPr>
            </a:br>
            <a:br>
              <a:rPr lang="en-US" sz="1300" dirty="0">
                <a:solidFill>
                  <a:srgbClr val="080808"/>
                </a:solidFill>
                <a:effectLst/>
              </a:rPr>
            </a:br>
            <a:r>
              <a:rPr lang="en-US" sz="1300" i="1" dirty="0">
                <a:solidFill>
                  <a:srgbClr val="8C8C8C"/>
                </a:solidFill>
                <a:effectLst/>
              </a:rPr>
              <a:t># Run the simulation</a:t>
            </a:r>
            <a:br>
              <a:rPr lang="en-US" sz="1300" i="1" dirty="0">
                <a:solidFill>
                  <a:srgbClr val="8C8C8C"/>
                </a:solidFill>
                <a:effectLst/>
              </a:rPr>
            </a:br>
            <a:r>
              <a:rPr lang="en-US" sz="1300" dirty="0" err="1">
                <a:solidFill>
                  <a:srgbClr val="080808"/>
                </a:solidFill>
                <a:effectLst/>
              </a:rPr>
              <a:t>run_simulation</a:t>
            </a:r>
            <a:r>
              <a:rPr lang="en-US" sz="1300" dirty="0">
                <a:solidFill>
                  <a:srgbClr val="080808"/>
                </a:solidFill>
                <a:effectLst/>
              </a:rPr>
              <a:t>()</a:t>
            </a:r>
            <a:br>
              <a:rPr lang="en-US" sz="1300" dirty="0">
                <a:solidFill>
                  <a:srgbClr val="080808"/>
                </a:solidFill>
                <a:effectLst/>
              </a:rPr>
            </a:br>
            <a:endParaRPr lang="en-US" sz="1300" dirty="0">
              <a:solidFill>
                <a:srgbClr val="080808"/>
              </a:solidFill>
              <a:effectLst/>
            </a:endParaRPr>
          </a:p>
          <a:p>
            <a:endParaRPr lang="en-US" sz="800" dirty="0"/>
          </a:p>
        </p:txBody>
      </p:sp>
    </p:spTree>
    <p:extLst>
      <p:ext uri="{BB962C8B-B14F-4D97-AF65-F5344CB8AC3E}">
        <p14:creationId xmlns:p14="http://schemas.microsoft.com/office/powerpoint/2010/main" val="3455841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CF485-B19D-16A7-CC5F-087CE88ABFFE}"/>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Output</a:t>
            </a:r>
          </a:p>
        </p:txBody>
      </p:sp>
      <p:sp>
        <p:nvSpPr>
          <p:cNvPr id="3" name="Content Placeholder 2">
            <a:extLst>
              <a:ext uri="{FF2B5EF4-FFF2-40B4-BE49-F238E27FC236}">
                <a16:creationId xmlns:a16="http://schemas.microsoft.com/office/drawing/2014/main" id="{60E0773F-F4FC-D397-054B-2A55EB967F57}"/>
              </a:ext>
            </a:extLst>
          </p:cNvPr>
          <p:cNvSpPr>
            <a:spLocks noGrp="1"/>
          </p:cNvSpPr>
          <p:nvPr>
            <p:ph idx="1"/>
          </p:nvPr>
        </p:nvSpPr>
        <p:spPr>
          <a:xfrm>
            <a:off x="4810259" y="649480"/>
            <a:ext cx="6555347" cy="5546047"/>
          </a:xfrm>
        </p:spPr>
        <p:txBody>
          <a:bodyPr anchor="ctr">
            <a:normAutofit/>
          </a:bodyPr>
          <a:lstStyle/>
          <a:p>
            <a:pPr marL="0" indent="0">
              <a:buNone/>
            </a:pPr>
            <a:r>
              <a:rPr lang="en-US" sz="1000"/>
              <a:t>tarting Value | Hit Wins | Hit Losses | Hit Draws | Stand Wins | Stand Losses | Stand Draws</a:t>
            </a:r>
          </a:p>
          <a:p>
            <a:pPr marL="0" indent="0">
              <a:buNone/>
            </a:pPr>
            <a:r>
              <a:rPr lang="en-US" sz="1000"/>
              <a:t>-------------------------------------------------------------------------------------</a:t>
            </a:r>
          </a:p>
          <a:p>
            <a:pPr marL="0" indent="0">
              <a:buNone/>
            </a:pPr>
            <a:r>
              <a:rPr lang="en-US" sz="1000"/>
              <a:t>      4        |   27682   |    72192    |    126    |   27659    |     72209     |     132    </a:t>
            </a:r>
          </a:p>
          <a:p>
            <a:pPr marL="0" indent="0">
              <a:buNone/>
            </a:pPr>
            <a:r>
              <a:rPr lang="en-US" sz="1000"/>
              <a:t>      5        |   10215   |    89735    |    50     |   10223    |     89730     |     47     </a:t>
            </a:r>
          </a:p>
          <a:p>
            <a:pPr marL="0" indent="0">
              <a:buNone/>
            </a:pPr>
            <a:r>
              <a:rPr lang="en-US" sz="1000"/>
              <a:t>      6        |   2813    |    97167    |    20     |    2818    |     97168     |     14     </a:t>
            </a:r>
          </a:p>
          <a:p>
            <a:pPr marL="0" indent="0">
              <a:buNone/>
            </a:pPr>
            <a:r>
              <a:rPr lang="en-US" sz="1000"/>
              <a:t>      7        |    608    |    99388    |     4     |    607     |     99389     |      4     </a:t>
            </a:r>
          </a:p>
          <a:p>
            <a:pPr marL="0" indent="0">
              <a:buNone/>
            </a:pPr>
            <a:r>
              <a:rPr lang="en-US" sz="1000"/>
              <a:t>      8        |    112    |    99887    |     1     |    112     |     99888     |      0     </a:t>
            </a:r>
          </a:p>
          <a:p>
            <a:pPr marL="0" indent="0">
              <a:buNone/>
            </a:pPr>
            <a:r>
              <a:rPr lang="en-US" sz="1000"/>
              <a:t>      9        |    14     |    99986    |     0     |     13     |     99986     |      1     </a:t>
            </a:r>
          </a:p>
          <a:p>
            <a:pPr marL="0" indent="0">
              <a:buNone/>
            </a:pPr>
            <a:r>
              <a:rPr lang="en-US" sz="1000"/>
              <a:t>      10       |     1     |    99999    |     0     |     1      |     99999     |      0     </a:t>
            </a:r>
          </a:p>
          <a:p>
            <a:pPr marL="0" indent="0">
              <a:buNone/>
            </a:pPr>
            <a:r>
              <a:rPr lang="en-US" sz="1000"/>
              <a:t>      11       |     0     |   100000    |     0     |     0      |    100000     |      0     </a:t>
            </a:r>
          </a:p>
          <a:p>
            <a:pPr marL="0" indent="0">
              <a:buNone/>
            </a:pPr>
            <a:r>
              <a:rPr lang="en-US" sz="1000"/>
              <a:t>      12       |     0     |   100000    |     0     |     0      |    100000     |      0     </a:t>
            </a:r>
          </a:p>
          <a:p>
            <a:pPr marL="0" indent="0">
              <a:buNone/>
            </a:pPr>
            <a:r>
              <a:rPr lang="en-US" sz="1000"/>
              <a:t>      13       |     0     |   100000    |     0     |     0      |    100000     |      0     </a:t>
            </a:r>
          </a:p>
          <a:p>
            <a:pPr marL="0" indent="0">
              <a:buNone/>
            </a:pPr>
            <a:r>
              <a:rPr lang="en-US" sz="1000"/>
              <a:t>      14       |     0     |   100000    |     0     |     0      |    100000     |      0     </a:t>
            </a:r>
          </a:p>
          <a:p>
            <a:pPr marL="0" indent="0">
              <a:buNone/>
            </a:pPr>
            <a:r>
              <a:rPr lang="en-US" sz="1000"/>
              <a:t>      15       |     0     |   100000    |     0     |     0      |    100000     |      0     </a:t>
            </a:r>
          </a:p>
          <a:p>
            <a:pPr marL="0" indent="0">
              <a:buNone/>
            </a:pPr>
            <a:r>
              <a:rPr lang="en-US" sz="1000"/>
              <a:t>      16       |     0     |   100000    |     0     |     0      |    100000     |      0     </a:t>
            </a:r>
          </a:p>
          <a:p>
            <a:pPr marL="0" indent="0">
              <a:buNone/>
            </a:pPr>
            <a:r>
              <a:rPr lang="en-US" sz="1000"/>
              <a:t>      17       |     0     |   100000    |     0     |     0      |    100000     |      0     </a:t>
            </a:r>
          </a:p>
          <a:p>
            <a:pPr marL="0" indent="0">
              <a:buNone/>
            </a:pPr>
            <a:r>
              <a:rPr lang="en-US" sz="1000"/>
              <a:t>      18       |     0     |   100000    |     0     |     0      |    100000     |      0     </a:t>
            </a:r>
          </a:p>
          <a:p>
            <a:pPr marL="0" indent="0">
              <a:buNone/>
            </a:pPr>
            <a:r>
              <a:rPr lang="en-US" sz="1000"/>
              <a:t>      19       |     0     |   100000    |     0     |     0      |    100000     |      0     </a:t>
            </a:r>
          </a:p>
          <a:p>
            <a:pPr marL="0" indent="0">
              <a:buNone/>
            </a:pPr>
            <a:r>
              <a:rPr lang="en-US" sz="1000"/>
              <a:t>      20       |     0     |   100000    |     0     |     0      |    100000     |      0     </a:t>
            </a:r>
          </a:p>
          <a:p>
            <a:pPr marL="0" indent="0">
              <a:buNone/>
            </a:pPr>
            <a:r>
              <a:rPr lang="en-US" sz="1000"/>
              <a:t>      21       |     0     |   100000    |     0     |     0      |    100000     |      0     </a:t>
            </a:r>
          </a:p>
          <a:p>
            <a:pPr marL="0" indent="0">
              <a:buNone/>
            </a:pPr>
            <a:r>
              <a:rPr lang="en-US" sz="1000"/>
              <a:t>      22       |     0     |   100000    |     0     |     0      |    100000     |      0 </a:t>
            </a:r>
          </a:p>
        </p:txBody>
      </p:sp>
    </p:spTree>
    <p:extLst>
      <p:ext uri="{BB962C8B-B14F-4D97-AF65-F5344CB8AC3E}">
        <p14:creationId xmlns:p14="http://schemas.microsoft.com/office/powerpoint/2010/main" val="3210418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58E7-A171-C536-B16B-81D915BA211E}"/>
              </a:ext>
            </a:extLst>
          </p:cNvPr>
          <p:cNvSpPr>
            <a:spLocks noGrp="1"/>
          </p:cNvSpPr>
          <p:nvPr>
            <p:ph type="title"/>
          </p:nvPr>
        </p:nvSpPr>
        <p:spPr/>
        <p:txBody>
          <a:bodyPr/>
          <a:lstStyle/>
          <a:p>
            <a:r>
              <a:rPr lang="en-US" dirty="0"/>
              <a:t>Visualize the output in a plot</a:t>
            </a:r>
          </a:p>
        </p:txBody>
      </p:sp>
      <p:sp>
        <p:nvSpPr>
          <p:cNvPr id="3" name="Content Placeholder 2">
            <a:extLst>
              <a:ext uri="{FF2B5EF4-FFF2-40B4-BE49-F238E27FC236}">
                <a16:creationId xmlns:a16="http://schemas.microsoft.com/office/drawing/2014/main" id="{2EF960D0-CDE7-A164-AAD1-B854D2FAA94E}"/>
              </a:ext>
            </a:extLst>
          </p:cNvPr>
          <p:cNvSpPr>
            <a:spLocks noGrp="1"/>
          </p:cNvSpPr>
          <p:nvPr>
            <p:ph idx="1"/>
          </p:nvPr>
        </p:nvSpPr>
        <p:spPr>
          <a:xfrm>
            <a:off x="838200" y="1825625"/>
            <a:ext cx="6428874" cy="4351338"/>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 Import matplotlib module. Define a function named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plot_results</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2. Accept a dictionary named results as 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 Extract the counts of hit and stand outcomes from the results dictionary.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 Create a list of starting values from 4 to 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 Create six empty lists to store counts for hit wins, hit losses, hit draws, stand wins, stand losses, and stand draws.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6. Iterate over each starting value in the range from 4 to 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7. Extract the counts of hit and stand outcomes for the current starting value from the results dictionary.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8. Append the counts to the respective lists.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9. Create a bar plot using the extracted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10. Set the width of the bars.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11. Plot bars for hit wins, hit losses, hit draws, stand wins, stand losses, and stand draws using matplotlib's bar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12. Set the x-axis labels to the starting values.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13. Set appropriate labels for the x-axis and y-axis.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14. Add a legend to the plot.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15. Set the title of the plot.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16. Display the plot.</a:t>
            </a:r>
          </a:p>
          <a:p>
            <a:endParaRPr lang="en-US" dirty="0"/>
          </a:p>
        </p:txBody>
      </p:sp>
    </p:spTree>
    <p:extLst>
      <p:ext uri="{BB962C8B-B14F-4D97-AF65-F5344CB8AC3E}">
        <p14:creationId xmlns:p14="http://schemas.microsoft.com/office/powerpoint/2010/main" val="3671306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FFFC52-CAD8-39B8-ECB6-07638D4CBB5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Output plot</a:t>
            </a:r>
          </a:p>
        </p:txBody>
      </p:sp>
      <p:pic>
        <p:nvPicPr>
          <p:cNvPr id="4" name="Picture 3" descr="A graph with orange and purple lines&#10;&#10;Description automatically generated">
            <a:extLst>
              <a:ext uri="{FF2B5EF4-FFF2-40B4-BE49-F238E27FC236}">
                <a16:creationId xmlns:a16="http://schemas.microsoft.com/office/drawing/2014/main" id="{A9A31478-97D4-162A-6BD1-130478D03702}"/>
              </a:ext>
            </a:extLst>
          </p:cNvPr>
          <p:cNvPicPr>
            <a:picLocks noChangeAspect="1"/>
          </p:cNvPicPr>
          <p:nvPr/>
        </p:nvPicPr>
        <p:blipFill>
          <a:blip r:embed="rId3"/>
          <a:stretch>
            <a:fillRect/>
          </a:stretch>
        </p:blipFill>
        <p:spPr>
          <a:xfrm>
            <a:off x="1434050" y="1966293"/>
            <a:ext cx="9323899" cy="4452160"/>
          </a:xfrm>
          <a:prstGeom prst="rect">
            <a:avLst/>
          </a:prstGeom>
        </p:spPr>
      </p:pic>
    </p:spTree>
    <p:extLst>
      <p:ext uri="{BB962C8B-B14F-4D97-AF65-F5344CB8AC3E}">
        <p14:creationId xmlns:p14="http://schemas.microsoft.com/office/powerpoint/2010/main" val="1442234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EF1C478-FB1B-5880-D14C-D0368805088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dirty="0">
                <a:solidFill>
                  <a:srgbClr val="FFFFFF"/>
                </a:solidFill>
                <a:latin typeface="+mj-lt"/>
                <a:ea typeface="+mj-ea"/>
                <a:cs typeface="+mj-cs"/>
              </a:rPr>
              <a:t>Thank you</a:t>
            </a:r>
          </a:p>
        </p:txBody>
      </p:sp>
      <p:pic>
        <p:nvPicPr>
          <p:cNvPr id="7" name="Graphic 6" descr="Handshake">
            <a:extLst>
              <a:ext uri="{FF2B5EF4-FFF2-40B4-BE49-F238E27FC236}">
                <a16:creationId xmlns:a16="http://schemas.microsoft.com/office/drawing/2014/main" id="{48E4BC16-1067-20B9-38E8-54D64D63E4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3510" y="467208"/>
            <a:ext cx="5923584" cy="5923584"/>
          </a:xfrm>
          <a:prstGeom prst="rect">
            <a:avLst/>
          </a:prstGeom>
        </p:spPr>
      </p:pic>
    </p:spTree>
    <p:extLst>
      <p:ext uri="{BB962C8B-B14F-4D97-AF65-F5344CB8AC3E}">
        <p14:creationId xmlns:p14="http://schemas.microsoft.com/office/powerpoint/2010/main" val="34280831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4723</TotalTime>
  <Words>3291</Words>
  <Application>Microsoft Macintosh PowerPoint</Application>
  <PresentationFormat>Widescreen</PresentationFormat>
  <Paragraphs>222</Paragraphs>
  <Slides>16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Calibri Light</vt:lpstr>
      <vt:lpstr>Söhne</vt:lpstr>
      <vt:lpstr>Times</vt:lpstr>
      <vt:lpstr>Office 2013 - 2022 Theme</vt:lpstr>
      <vt:lpstr>Final project –  Blackjack Simulator</vt:lpstr>
      <vt:lpstr>Basic rules of Blackjack</vt:lpstr>
      <vt:lpstr>Project instructions</vt:lpstr>
      <vt:lpstr>Flowchart</vt:lpstr>
      <vt:lpstr>Flowchart for Functions (Hand Value)</vt:lpstr>
      <vt:lpstr>Flowchart for Functions (Dealer Turn)</vt:lpstr>
      <vt:lpstr>Flowchart for Functions (Player Turn)</vt:lpstr>
      <vt:lpstr>Flowchart for Functions (Determine winner)</vt:lpstr>
      <vt:lpstr>Flowchart for Functions  (Run Simulation)</vt:lpstr>
      <vt:lpstr>Flowchart for Functions  (Print the results into a table)</vt:lpstr>
      <vt:lpstr>Pseudocode</vt:lpstr>
      <vt:lpstr>Full Python Code for Blackjack Simulator</vt:lpstr>
      <vt:lpstr>Output</vt:lpstr>
      <vt:lpstr>Visualize the output in a plot</vt:lpstr>
      <vt:lpstr>Output plot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  Blackjack Simulator</dc:title>
  <dc:creator>Mansi Verma</dc:creator>
  <cp:lastModifiedBy>Mansi Verma</cp:lastModifiedBy>
  <cp:revision>3</cp:revision>
  <dcterms:created xsi:type="dcterms:W3CDTF">2024-04-24T10:46:51Z</dcterms:created>
  <dcterms:modified xsi:type="dcterms:W3CDTF">2024-04-27T17:30:25Z</dcterms:modified>
</cp:coreProperties>
</file>